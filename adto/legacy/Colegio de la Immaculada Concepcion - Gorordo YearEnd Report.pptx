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Inter SemiBold"/>
      <p:regular r:id="rId26"/>
      <p:bold r:id="rId27"/>
      <p:italic r:id="rId28"/>
      <p:boldItalic r:id="rId29"/>
    </p:embeddedFont>
    <p:embeddedFont>
      <p:font typeface="Lato"/>
      <p:regular r:id="rId30"/>
      <p:bold r:id="rId31"/>
      <p:italic r:id="rId32"/>
      <p:boldItalic r:id="rId33"/>
    </p:embeddedFont>
    <p:embeddedFont>
      <p:font typeface="Inter"/>
      <p:regular r:id="rId34"/>
      <p:bold r:id="rId35"/>
      <p:italic r:id="rId36"/>
      <p:boldItalic r:id="rId37"/>
    </p:embeddedFont>
    <p:embeddedFont>
      <p:font typeface="Rajdhani Medium"/>
      <p:regular r:id="rId38"/>
      <p:bold r:id="rId39"/>
    </p:embeddedFont>
    <p:embeddedFont>
      <p:font typeface="Lexend"/>
      <p:regular r:id="rId40"/>
      <p:bold r:id="rId41"/>
    </p:embeddedFont>
    <p:embeddedFont>
      <p:font typeface="Rajdhani"/>
      <p:regular r:id="rId42"/>
      <p:bold r:id="rId43"/>
    </p:embeddedFont>
    <p:embeddedFont>
      <p:font typeface="Inter Medium"/>
      <p:regular r:id="rId44"/>
      <p:bold r:id="rId45"/>
      <p:italic r:id="rId46"/>
      <p:boldItalic r:id="rId47"/>
    </p:embeddedFont>
    <p:embeddedFont>
      <p:font typeface="JetBrains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712">
          <p15:clr>
            <a:srgbClr val="747775"/>
          </p15:clr>
        </p15:guide>
        <p15:guide id="2" orient="horz" pos="185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E652FB-8780-4064-A4DD-53245AC6C69B}">
  <a:tblStyle styleId="{9FE652FB-8780-4064-A4DD-53245AC6C69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A1ACD15-8FD0-44B1-B854-61B8FE82229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712"/>
        <p:guide pos="1859"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regular.fntdata"/><Relationship Id="rId42" Type="http://schemas.openxmlformats.org/officeDocument/2006/relationships/font" Target="fonts/Rajdhani-regular.fntdata"/><Relationship Id="rId41" Type="http://schemas.openxmlformats.org/officeDocument/2006/relationships/font" Target="fonts/Lexend-bold.fntdata"/><Relationship Id="rId44" Type="http://schemas.openxmlformats.org/officeDocument/2006/relationships/font" Target="fonts/InterMedium-regular.fntdata"/><Relationship Id="rId43" Type="http://schemas.openxmlformats.org/officeDocument/2006/relationships/font" Target="fonts/Rajdhani-bold.fntdata"/><Relationship Id="rId46" Type="http://schemas.openxmlformats.org/officeDocument/2006/relationships/font" Target="fonts/InterMedium-italic.fntdata"/><Relationship Id="rId45" Type="http://schemas.openxmlformats.org/officeDocument/2006/relationships/font" Target="fonts/Inter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JetBrainsMono-regular.fntdata"/><Relationship Id="rId47" Type="http://schemas.openxmlformats.org/officeDocument/2006/relationships/font" Target="fonts/InterMedium-boldItalic.fntdata"/><Relationship Id="rId49" Type="http://schemas.openxmlformats.org/officeDocument/2006/relationships/font" Target="fonts/JetBrains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fntdata"/><Relationship Id="rId30" Type="http://schemas.openxmlformats.org/officeDocument/2006/relationships/font" Target="fonts/Lato-regular.fntdata"/><Relationship Id="rId33" Type="http://schemas.openxmlformats.org/officeDocument/2006/relationships/font" Target="fonts/Lato-boldItalic.fntdata"/><Relationship Id="rId32" Type="http://schemas.openxmlformats.org/officeDocument/2006/relationships/font" Target="fonts/Lato-italic.fntdata"/><Relationship Id="rId35" Type="http://schemas.openxmlformats.org/officeDocument/2006/relationships/font" Target="fonts/Inter-bold.fntdata"/><Relationship Id="rId34" Type="http://schemas.openxmlformats.org/officeDocument/2006/relationships/font" Target="fonts/Inter-regular.fntdata"/><Relationship Id="rId37" Type="http://schemas.openxmlformats.org/officeDocument/2006/relationships/font" Target="fonts/Inter-boldItalic.fntdata"/><Relationship Id="rId36" Type="http://schemas.openxmlformats.org/officeDocument/2006/relationships/font" Target="fonts/Inter-italic.fntdata"/><Relationship Id="rId39" Type="http://schemas.openxmlformats.org/officeDocument/2006/relationships/font" Target="fonts/RajdhaniMedium-bold.fntdata"/><Relationship Id="rId38" Type="http://schemas.openxmlformats.org/officeDocument/2006/relationships/font" Target="fonts/RajdhaniMedium-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InterSemiBold-regular.fntdata"/><Relationship Id="rId25" Type="http://schemas.openxmlformats.org/officeDocument/2006/relationships/slide" Target="slides/slide19.xml"/><Relationship Id="rId28" Type="http://schemas.openxmlformats.org/officeDocument/2006/relationships/font" Target="fonts/InterSemiBold-italic.fntdata"/><Relationship Id="rId27" Type="http://schemas.openxmlformats.org/officeDocument/2006/relationships/font" Target="fonts/InterSemiBold-bold.fntdata"/><Relationship Id="rId29" Type="http://schemas.openxmlformats.org/officeDocument/2006/relationships/font" Target="fonts/InterSemiBold-boldItalic.fntdata"/><Relationship Id="rId51" Type="http://schemas.openxmlformats.org/officeDocument/2006/relationships/font" Target="fonts/JetBrainsMono-boldItalic.fntdata"/><Relationship Id="rId50" Type="http://schemas.openxmlformats.org/officeDocument/2006/relationships/font" Target="fonts/JetBrains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w5JDeGdUT2ewoHLqGuklE8XqYMb1UvhlRGEpNg9PRqc/edit?usp=sharing"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38980ee40a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 name="Google Shape;38;g338980ee40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Inter"/>
                <a:ea typeface="Inter"/>
                <a:cs typeface="Inter"/>
                <a:sym typeface="Inter"/>
              </a:rPr>
              <a:t>Copy-Paste Logo from this source: </a:t>
            </a:r>
            <a:r>
              <a:rPr lang="en-US" sz="1000" u="sng">
                <a:solidFill>
                  <a:schemeClr val="hlink"/>
                </a:solidFill>
                <a:latin typeface="Inter"/>
                <a:ea typeface="Inter"/>
                <a:cs typeface="Inter"/>
                <a:sym typeface="Inter"/>
                <a:hlinkClick r:id="rId2"/>
              </a:rPr>
              <a:t>https://docs.google.com/spreadsheets/d/1w5JDeGdUT2ewoHLqGuklE8XqYMb1UvhlRGEpNg9PRqc/edit?usp=sharing</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000">
                <a:solidFill>
                  <a:schemeClr val="dk1"/>
                </a:solidFill>
                <a:latin typeface="Inter"/>
                <a:ea typeface="Inter"/>
                <a:cs typeface="Inter"/>
                <a:sym typeface="Inter"/>
              </a:rPr>
              <a:t>Format School logo: </a:t>
            </a:r>
            <a:r>
              <a:rPr lang="en-US" sz="1000">
                <a:solidFill>
                  <a:schemeClr val="dk1"/>
                </a:solidFill>
                <a:latin typeface="Inter"/>
                <a:ea typeface="Inter"/>
                <a:cs typeface="Inter"/>
                <a:sym typeface="Inter"/>
              </a:rPr>
              <a:t>Click Logo &gt; Right Click &gt; Order &gt; Send to back </a:t>
            </a:r>
            <a:endParaRPr sz="1000">
              <a:latin typeface="Inter"/>
              <a:ea typeface="Inter"/>
              <a:cs typeface="Inter"/>
              <a:sym typeface="Inte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410d82e30c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410d82e30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10d82e30c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10d82e30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latin typeface="Inter"/>
                <a:ea typeface="Inter"/>
                <a:cs typeface="Inter"/>
                <a:sym typeface="Inter"/>
              </a:rPr>
              <a:t>Adoption Type, overwrite with:</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Char char="-"/>
            </a:pPr>
            <a:r>
              <a:rPr lang="en-US" sz="1200">
                <a:solidFill>
                  <a:schemeClr val="dk1"/>
                </a:solidFill>
                <a:latin typeface="Inter"/>
                <a:ea typeface="Inter"/>
                <a:cs typeface="Inter"/>
                <a:sym typeface="Inter"/>
              </a:rPr>
              <a:t>Software-based use &gt; </a:t>
            </a:r>
            <a:r>
              <a:rPr b="1" lang="en-US" sz="1200">
                <a:solidFill>
                  <a:schemeClr val="dk1"/>
                </a:solidFill>
                <a:latin typeface="Inter"/>
                <a:ea typeface="Inter"/>
                <a:cs typeface="Inter"/>
                <a:sym typeface="Inter"/>
              </a:rPr>
              <a:t>Software-based / Creative Coding</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Char char="-"/>
            </a:pPr>
            <a:r>
              <a:rPr lang="en-US" sz="1200">
                <a:solidFill>
                  <a:schemeClr val="dk1"/>
                </a:solidFill>
                <a:latin typeface="Inter"/>
                <a:ea typeface="Inter"/>
                <a:cs typeface="Inter"/>
                <a:sym typeface="Inter"/>
              </a:rPr>
              <a:t>Hardware-based use &gt; </a:t>
            </a:r>
            <a:r>
              <a:rPr b="1" lang="en-US" sz="1200">
                <a:solidFill>
                  <a:schemeClr val="dk1"/>
                </a:solidFill>
                <a:latin typeface="Inter"/>
                <a:ea typeface="Inter"/>
                <a:cs typeface="Inter"/>
                <a:sym typeface="Inter"/>
              </a:rPr>
              <a:t>Hardware-based / Physical Computing</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Char char="-"/>
            </a:pPr>
            <a:r>
              <a:rPr lang="en-US" sz="1200">
                <a:solidFill>
                  <a:schemeClr val="dk1"/>
                </a:solidFill>
                <a:latin typeface="Inter"/>
                <a:ea typeface="Inter"/>
                <a:cs typeface="Inter"/>
                <a:sym typeface="Inter"/>
              </a:rPr>
              <a:t>Combo: </a:t>
            </a:r>
            <a:r>
              <a:rPr b="1" lang="en-US" sz="1200">
                <a:solidFill>
                  <a:schemeClr val="dk1"/>
                </a:solidFill>
                <a:latin typeface="Inter"/>
                <a:ea typeface="Inter"/>
                <a:cs typeface="Inter"/>
                <a:sym typeface="Inter"/>
              </a:rPr>
              <a:t>Creative Coding + Physical Computing</a:t>
            </a:r>
            <a:endParaRPr b="1"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US" sz="1200">
                <a:solidFill>
                  <a:schemeClr val="dk1"/>
                </a:solidFill>
                <a:latin typeface="Inter"/>
                <a:ea typeface="Inter"/>
                <a:cs typeface="Inter"/>
                <a:sym typeface="Inter"/>
              </a:rPr>
              <a:t>Implementation Setup, overwrite with:</a:t>
            </a:r>
            <a:endParaRPr b="1"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Subject Integration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Subject Integration + Dedicated Coding Hour/s</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Subject Integration + Computer Subject</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Integrated with Computer Subject</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Additional Subject (ACE)</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Elective - Academic</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Elective - Co-curricular</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b="1" lang="en-US" sz="1200">
                <a:solidFill>
                  <a:schemeClr val="dk1"/>
                </a:solidFill>
                <a:latin typeface="Inter"/>
                <a:ea typeface="Inter"/>
                <a:cs typeface="Inter"/>
                <a:sym typeface="Inter"/>
              </a:rPr>
              <a:t>Schedule Arrangement: </a:t>
            </a:r>
            <a:endParaRPr b="1"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Fixed Schedule</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Scheduled by Subject Area/s involved</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Fixed Schedule and integrated</a:t>
            </a:r>
            <a:endParaRPr sz="1200">
              <a:latin typeface="Inter"/>
              <a:ea typeface="Inter"/>
              <a:cs typeface="Inter"/>
              <a:sym typeface="Inte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10d82e30c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10d82e30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300">
                <a:latin typeface="Inter"/>
                <a:ea typeface="Inter"/>
                <a:cs typeface="Inter"/>
                <a:sym typeface="Inter"/>
              </a:rPr>
              <a:t>put (-) or n/a if division is not part of adoption</a:t>
            </a:r>
            <a:endParaRPr sz="1300">
              <a:latin typeface="Inter"/>
              <a:ea typeface="Inter"/>
              <a:cs typeface="Inter"/>
              <a:sym typeface="Inte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97945c41c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97945c41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10d82e30c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10d82e30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[Slide for school with Grade School adoption] /</a:t>
            </a:r>
            <a:r>
              <a:rPr lang="en-US" sz="1200">
                <a:solidFill>
                  <a:schemeClr val="dk1"/>
                </a:solidFill>
                <a:latin typeface="Inter"/>
                <a:ea typeface="Inter"/>
                <a:cs typeface="Inter"/>
                <a:sym typeface="Inter"/>
              </a:rPr>
              <a:t> Delete when necessary.</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Explainer options: </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Relatively distributed</a:t>
            </a:r>
            <a:r>
              <a:rPr lang="en-US" sz="1200">
                <a:solidFill>
                  <a:schemeClr val="dk1"/>
                </a:solidFill>
                <a:latin typeface="Inter"/>
                <a:ea typeface="Inter"/>
                <a:cs typeface="Inter"/>
                <a:sym typeface="Inter"/>
              </a:rPr>
              <a:t> – Coding sessions in the grade school were relatively distributed across grade levels, ensuring that each cohort received meaningful opportunities to learn, code, and create.</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Focused on priority levels</a:t>
            </a:r>
            <a:r>
              <a:rPr lang="en-US" sz="1200">
                <a:solidFill>
                  <a:schemeClr val="dk1"/>
                </a:solidFill>
                <a:latin typeface="Inter"/>
                <a:ea typeface="Inter"/>
                <a:cs typeface="Inter"/>
                <a:sym typeface="Inter"/>
              </a:rPr>
              <a:t> – Coding sessions in the grade school were intentionally focused on priority grade levels, supporting deeper engagement and stronger mastery where it was most needed.</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specific levels</a:t>
            </a:r>
            <a:r>
              <a:rPr lang="en-US" sz="1200">
                <a:solidFill>
                  <a:schemeClr val="dk1"/>
                </a:solidFill>
                <a:latin typeface="Inter"/>
                <a:ea typeface="Inter"/>
                <a:cs typeface="Inter"/>
                <a:sym typeface="Inter"/>
              </a:rPr>
              <a:t> – Coding sessions in the grade school were concentrated in specific grade levels, reflecting scheduling priorities and the school’s implementation approach.</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Driven by schedule/capacity </a:t>
            </a:r>
            <a:r>
              <a:rPr lang="en-US" sz="1200">
                <a:solidFill>
                  <a:schemeClr val="dk1"/>
                </a:solidFill>
                <a:latin typeface="Inter"/>
                <a:ea typeface="Inter"/>
                <a:cs typeface="Inter"/>
                <a:sym typeface="Inter"/>
              </a:rPr>
              <a:t>– Most coding sessions in the grade school were delivered to grade levels with available schedules and teacher capacity, providing focused support where learners could benefit most.</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upper levels</a:t>
            </a:r>
            <a:r>
              <a:rPr lang="en-US" sz="1200">
                <a:solidFill>
                  <a:schemeClr val="dk1"/>
                </a:solidFill>
                <a:latin typeface="Inter"/>
                <a:ea typeface="Inter"/>
                <a:cs typeface="Inter"/>
                <a:sym typeface="Inter"/>
              </a:rPr>
              <a:t> – Coding sessions in the grade school were heavily concentrated in upper grade levels, highlighting increased readiness and demand for more advanced coding experiences.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Evenly balanced</a:t>
            </a:r>
            <a:r>
              <a:rPr lang="en-US" sz="1200">
                <a:solidFill>
                  <a:schemeClr val="dk1"/>
                </a:solidFill>
                <a:latin typeface="Inter"/>
                <a:ea typeface="Inter"/>
                <a:cs typeface="Inter"/>
                <a:sym typeface="Inter"/>
              </a:rPr>
              <a:t> – Coding sessions in the grade school were more evenly balanced across grade levels, indicating broad access to coding experiences throughout the school.</a:t>
            </a:r>
            <a:endParaRPr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b="1"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b="1"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sz="1200">
              <a:latin typeface="Inter"/>
              <a:ea typeface="Inter"/>
              <a:cs typeface="Inter"/>
              <a:sym typeface="Inte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9b4b399ff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9b4b399f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[Slide for school with High School adoption] / Delete when necessary.</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Explainer options: </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Relatively distributed</a:t>
            </a:r>
            <a:r>
              <a:rPr lang="en-US" sz="1200">
                <a:solidFill>
                  <a:schemeClr val="dk1"/>
                </a:solidFill>
                <a:latin typeface="Inter"/>
                <a:ea typeface="Inter"/>
                <a:cs typeface="Inter"/>
                <a:sym typeface="Inter"/>
              </a:rPr>
              <a:t> – Coding sessions in the high school were relatively distributed across grade levels, ensuring that each cohort received meaningful opportunities to learn, code, and create.</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Focused on priority levels</a:t>
            </a:r>
            <a:r>
              <a:rPr lang="en-US" sz="1200">
                <a:solidFill>
                  <a:schemeClr val="dk1"/>
                </a:solidFill>
                <a:latin typeface="Inter"/>
                <a:ea typeface="Inter"/>
                <a:cs typeface="Inter"/>
                <a:sym typeface="Inter"/>
              </a:rPr>
              <a:t> – Coding sessions in the high school were intentionally focused on priority grade levels, supporting deeper engagement and stronger mastery where it was most needed.</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specific levels</a:t>
            </a:r>
            <a:r>
              <a:rPr lang="en-US" sz="1200">
                <a:solidFill>
                  <a:schemeClr val="dk1"/>
                </a:solidFill>
                <a:latin typeface="Inter"/>
                <a:ea typeface="Inter"/>
                <a:cs typeface="Inter"/>
                <a:sym typeface="Inter"/>
              </a:rPr>
              <a:t> – Coding sessions in the high school were concentrated in specific grade levels, reflecting scheduling priorities and the school’s implementation approach.</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Driven by schedule/capacity</a:t>
            </a:r>
            <a:r>
              <a:rPr lang="en-US" sz="1200">
                <a:solidFill>
                  <a:schemeClr val="dk1"/>
                </a:solidFill>
                <a:latin typeface="Inter"/>
                <a:ea typeface="Inter"/>
                <a:cs typeface="Inter"/>
                <a:sym typeface="Inter"/>
              </a:rPr>
              <a:t> – Most coding sessions in the high school were delivered to grade levels with available schedules and teacher capacity, providing focused support where learners could benefit most.</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upper levels</a:t>
            </a:r>
            <a:r>
              <a:rPr lang="en-US" sz="1200">
                <a:solidFill>
                  <a:schemeClr val="dk1"/>
                </a:solidFill>
                <a:latin typeface="Inter"/>
                <a:ea typeface="Inter"/>
                <a:cs typeface="Inter"/>
                <a:sym typeface="Inter"/>
              </a:rPr>
              <a:t> – Coding sessions in the high school were heavily concentrated in upper grade levels, highlighting increased readiness and demand for more advanced coding experiences.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Evenly balanced</a:t>
            </a:r>
            <a:r>
              <a:rPr lang="en-US" sz="1200">
                <a:solidFill>
                  <a:schemeClr val="dk1"/>
                </a:solidFill>
                <a:latin typeface="Inter"/>
                <a:ea typeface="Inter"/>
                <a:cs typeface="Inter"/>
                <a:sym typeface="Inter"/>
              </a:rPr>
              <a:t> – Coding sessions in the high school were more evenly balanced across grade levels, indicating broad access to coding experiences throughout the school.</a:t>
            </a:r>
            <a:endParaRPr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b="1"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sz="1200">
              <a:latin typeface="Inter"/>
              <a:ea typeface="Inter"/>
              <a:cs typeface="Inter"/>
              <a:sym typeface="Inte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9b4b399ff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9b4b399f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[Slide for school with GS and High School adoption] / Delete when necessary. I.e. department specific report.</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rPr lang="en-US" sz="1200">
                <a:solidFill>
                  <a:schemeClr val="dk1"/>
                </a:solidFill>
                <a:latin typeface="Inter"/>
                <a:ea typeface="Inter"/>
                <a:cs typeface="Inter"/>
                <a:sym typeface="Inter"/>
              </a:rPr>
              <a:t>Explainer options: </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Balanced pattern - </a:t>
            </a:r>
            <a:r>
              <a:rPr lang="en-US" sz="1200">
                <a:solidFill>
                  <a:schemeClr val="dk1"/>
                </a:solidFill>
                <a:latin typeface="Inter"/>
                <a:ea typeface="Inter"/>
                <a:cs typeface="Inter"/>
                <a:sym typeface="Inter"/>
              </a:rPr>
              <a:t>“Across the school, coding sessions were relatively balanced by grade level, suggesting broad access to coding opportunities.”​​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Clearly focused on certain grades - </a:t>
            </a:r>
            <a:r>
              <a:rPr lang="en-US" sz="1200">
                <a:solidFill>
                  <a:schemeClr val="dk1"/>
                </a:solidFill>
                <a:latin typeface="Inter"/>
                <a:ea typeface="Inter"/>
                <a:cs typeface="Inter"/>
                <a:sym typeface="Inter"/>
              </a:rPr>
              <a:t>“Coding activity was most concentrated in a small set of grade levels, reflecting where scheduling and implementation efforts were strongest.”</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Skewed toward upper grades - </a:t>
            </a:r>
            <a:r>
              <a:rPr lang="en-US" sz="1200">
                <a:solidFill>
                  <a:schemeClr val="dk1"/>
                </a:solidFill>
                <a:latin typeface="Inter"/>
                <a:ea typeface="Inter"/>
                <a:cs typeface="Inter"/>
                <a:sym typeface="Inter"/>
              </a:rPr>
              <a:t>“Sessions tended to cluster in the upper grades, where learners engaged more frequently in extended coding experiences.”​​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Skewed toward lower grades - </a:t>
            </a:r>
            <a:r>
              <a:rPr lang="en-US" sz="1200">
                <a:solidFill>
                  <a:schemeClr val="dk1"/>
                </a:solidFill>
                <a:latin typeface="Inter"/>
                <a:ea typeface="Inter"/>
                <a:cs typeface="Inter"/>
                <a:sym typeface="Inter"/>
              </a:rPr>
              <a:t>“Sessions were more frequently scheduled in the lower grades, laying a stronger early foundation for coding skills.”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Presence of grades with zero sessions - </a:t>
            </a:r>
            <a:r>
              <a:rPr lang="en-US" sz="1200">
                <a:solidFill>
                  <a:schemeClr val="dk1"/>
                </a:solidFill>
                <a:latin typeface="Inter"/>
                <a:ea typeface="Inter"/>
                <a:cs typeface="Inter"/>
                <a:sym typeface="Inter"/>
              </a:rPr>
              <a:t>“At the same time, some grade levels had little to no recorded activity, pointing to potential areas for future expansion.”</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sz="1200">
              <a:latin typeface="Inter"/>
              <a:ea typeface="Inter"/>
              <a:cs typeface="Inter"/>
              <a:sym typeface="Inte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10d82e30c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410d82e30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latin typeface="Inter"/>
                <a:ea typeface="Inter"/>
                <a:cs typeface="Inter"/>
                <a:sym typeface="Inter"/>
              </a:rPr>
              <a:t>You may add this statement when applicable:</a:t>
            </a:r>
            <a:endParaRPr sz="12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activities are similar</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Mid-year and second-half featured a comparable spread of activities, showing consistent opportunities for students to engage in coding across the terms.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Activity types remained stable across both periods, indicating a steady pattern of onboarding, project work, and presentations throughout the year.</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mid‑year is more orientation/onboarding heavy</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Mid-year placed greater emphasis on onboarding and orientation, helping students ease into the program before taking on more demanding coding tasks later in the year.</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Early in the year, activities focused on student orientation and onboarding, laying the groundwork for more complex coding work in subsequent terms.</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the second half shifts toward projects/outputs</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In the second half of the year, activities shifted toward project creation and presentations, reflecting a stronger focus on applying and showcasing students’ coding skills.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Later in the year, coding activities emphasized exam days, project work, and competitions, signaling a move from foundation-building to performance and output.</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a showcase or schoolwide event stands out</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The presence of schoolwide events such as ShowcACE highlighted coding as a visible part of the school culture, bringing together learners from multiple grade levels.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Schoolwide showcase activities played a key role, creating public moments for students to present their coding projects and celebrate progress.</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competitions or external events appear</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The addition of local and international competitions in the second half provided authentic venues for students to test their coding skills beyond regular classes.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Competitive events complemented classroom activities, giving interested students higher‑stakes opportunities to extend their coding experience.</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research or consultation appears</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Research and consultation activities, though fewer in number, signaled deeper, more individualized engagement for students refining specific projects.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Teacher and student consultation sessions supported more personalized guidance, especially for learners preparing for exams, showcases, or competitions.</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97945c41c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97945c41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Set 1 – When activity mix is broadly similar</a:t>
            </a:r>
            <a:endParaRPr b="1" sz="1200">
              <a:solidFill>
                <a:schemeClr val="dk1"/>
              </a:solidFill>
              <a:latin typeface="Inter"/>
              <a:ea typeface="Inter"/>
              <a:cs typeface="Inter"/>
              <a:sym typeface="Inter"/>
            </a:endParaRPr>
          </a:p>
          <a:p>
            <a:pPr indent="0" lvl="0" marL="0" rtl="0" algn="l">
              <a:lnSpc>
                <a:spcPct val="115000"/>
              </a:lnSpc>
              <a:spcBef>
                <a:spcPts val="600"/>
              </a:spcBef>
              <a:spcAft>
                <a:spcPts val="0"/>
              </a:spcAft>
              <a:buClr>
                <a:schemeClr val="dk1"/>
              </a:buClr>
              <a:buSzPts val="1100"/>
              <a:buFont typeface="Arial"/>
              <a:buNone/>
            </a:pPr>
            <a:r>
              <a:rPr lang="en-US" sz="1000">
                <a:solidFill>
                  <a:schemeClr val="dk1"/>
                </a:solidFill>
                <a:latin typeface="Inter"/>
                <a:ea typeface="Inter"/>
                <a:cs typeface="Inter"/>
                <a:sym typeface="Inter"/>
              </a:rPr>
              <a:t>Across the first and second halves of the year, students experienced a mix of onboarding, project work, and presentations, keeping them engaged in coding from start to finish. Both periods offered comparable opportunities to begin, build, and share projects, showing how coding stayed a consistent part of school life all year.</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Set 2 – When the year shows a clear shift from foundation to output</a:t>
            </a:r>
            <a:endParaRPr b="1" sz="1200">
              <a:solidFill>
                <a:schemeClr val="dk1"/>
              </a:solidFill>
              <a:latin typeface="Inter"/>
              <a:ea typeface="Inter"/>
              <a:cs typeface="Inter"/>
              <a:sym typeface="Inter"/>
            </a:endParaRPr>
          </a:p>
          <a:p>
            <a:pPr indent="0" lvl="0" marL="0" rtl="0" algn="l">
              <a:lnSpc>
                <a:spcPct val="115000"/>
              </a:lnSpc>
              <a:spcBef>
                <a:spcPts val="600"/>
              </a:spcBef>
              <a:spcAft>
                <a:spcPts val="0"/>
              </a:spcAft>
              <a:buClr>
                <a:schemeClr val="dk1"/>
              </a:buClr>
              <a:buSzPts val="1100"/>
              <a:buFont typeface="Arial"/>
              <a:buNone/>
            </a:pPr>
            <a:r>
              <a:rPr lang="en-US" sz="1000">
                <a:solidFill>
                  <a:schemeClr val="dk1"/>
                </a:solidFill>
                <a:latin typeface="Inter"/>
                <a:ea typeface="Inter"/>
                <a:cs typeface="Inter"/>
                <a:sym typeface="Inter"/>
              </a:rPr>
              <a:t>In the first half of the year, activities focused more on orientation, onboarding, and early project work, giving students time to build confidence with coding tools and routines. By the second half, the mix shifted toward project creation, presentations, and assessments, highlighting how learners moved from foundation‑building to applying and showcasing what they had learned.</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Set 3 – When the year highlights big, visible events and extensions</a:t>
            </a:r>
            <a:endParaRPr b="1" sz="1200">
              <a:solidFill>
                <a:schemeClr val="dk1"/>
              </a:solidFill>
              <a:latin typeface="Inter"/>
              <a:ea typeface="Inter"/>
              <a:cs typeface="Inter"/>
              <a:sym typeface="Inter"/>
            </a:endParaRPr>
          </a:p>
          <a:p>
            <a:pPr indent="0" lvl="0" marL="0" rtl="0" algn="l">
              <a:lnSpc>
                <a:spcPct val="115000"/>
              </a:lnSpc>
              <a:spcBef>
                <a:spcPts val="600"/>
              </a:spcBef>
              <a:spcAft>
                <a:spcPts val="0"/>
              </a:spcAft>
              <a:buClr>
                <a:schemeClr val="dk1"/>
              </a:buClr>
              <a:buSzPts val="1100"/>
              <a:buFont typeface="Arial"/>
              <a:buNone/>
            </a:pPr>
            <a:r>
              <a:rPr lang="en-US" sz="1000">
                <a:solidFill>
                  <a:schemeClr val="dk1"/>
                </a:solidFill>
                <a:latin typeface="Inter"/>
                <a:ea typeface="Inter"/>
                <a:cs typeface="Inter"/>
                <a:sym typeface="Inter"/>
              </a:rPr>
              <a:t>Across both halves of the year, a rich set of activities—from onboarding and project development to showcases, exams, and competitions—kept students actively using and extending their coding skills. Schoolwide events, presentations, and contests turned coding into a visible celebration of student work, while regular sessions and check‑ins ensured that progress was supported throughout the year.</a:t>
            </a:r>
            <a:endParaRPr sz="1000">
              <a:solidFill>
                <a:schemeClr val="dk1"/>
              </a:solidFill>
              <a:latin typeface="Inter"/>
              <a:ea typeface="Inter"/>
              <a:cs typeface="Inter"/>
              <a:sym typeface="Inter"/>
            </a:endParaRPr>
          </a:p>
          <a:p>
            <a:pPr indent="0" lvl="0" marL="0" rtl="0" algn="l">
              <a:spcBef>
                <a:spcPts val="600"/>
              </a:spcBef>
              <a:spcAft>
                <a:spcPts val="0"/>
              </a:spcAft>
              <a:buNone/>
            </a:pPr>
            <a:r>
              <a:t/>
            </a:r>
            <a:endParaRPr sz="900">
              <a:latin typeface="Inter"/>
              <a:ea typeface="Inter"/>
              <a:cs typeface="Inter"/>
              <a:sym typeface="Inte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97945c41c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97945c41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Inter"/>
                <a:ea typeface="Inter"/>
                <a:cs typeface="Inter"/>
                <a:sym typeface="Inter"/>
              </a:rPr>
              <a:t>If too many subjects in a term, duplicate split terms. </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b="1" lang="en-US" sz="1400">
                <a:solidFill>
                  <a:schemeClr val="dk1"/>
                </a:solidFill>
                <a:latin typeface="Inter"/>
                <a:ea typeface="Inter"/>
                <a:cs typeface="Inter"/>
                <a:sym typeface="Inter"/>
              </a:rPr>
              <a:t>Explainer Options: </a:t>
            </a:r>
            <a:endParaRPr b="1" sz="14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US" sz="1000">
                <a:solidFill>
                  <a:schemeClr val="dk1"/>
                </a:solidFill>
                <a:latin typeface="Inter"/>
                <a:ea typeface="Inter"/>
                <a:cs typeface="Inter"/>
                <a:sym typeface="Inter"/>
              </a:rPr>
              <a:t>Coding was delivered through a dedicated subject period, giving learners structured time and consistent exposure to build skills progressively throughout the term.</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US" sz="1000">
                <a:solidFill>
                  <a:schemeClr val="dk1"/>
                </a:solidFill>
                <a:latin typeface="Inter"/>
                <a:ea typeface="Inter"/>
                <a:cs typeface="Inter"/>
                <a:sym typeface="Inter"/>
              </a:rPr>
              <a:t>Coding was integrated across multiple subjects, allowing learners to apply computational thinking within different learning contexts and deepen cross-disciplinary skills.</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US" sz="1000">
                <a:solidFill>
                  <a:schemeClr val="dk1"/>
                </a:solidFill>
                <a:latin typeface="Inter"/>
                <a:ea typeface="Inter"/>
                <a:cs typeface="Inter"/>
                <a:sym typeface="Inter"/>
              </a:rPr>
              <a:t>The school used a mixed model—dedicated coding time alongside subject integration—to broaden learning opportunities and reinforce skills across contexts.</a:t>
            </a:r>
            <a:endParaRPr sz="1000">
              <a:solidFill>
                <a:schemeClr val="dk1"/>
              </a:solidFill>
              <a:latin typeface="Inter"/>
              <a:ea typeface="Inter"/>
              <a:cs typeface="Inter"/>
              <a:sym typeface="Inte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97945c41c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97945c41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000">
                <a:latin typeface="Inter"/>
                <a:ea typeface="Inter"/>
                <a:cs typeface="Inter"/>
                <a:sym typeface="Inter"/>
              </a:rPr>
              <a:t>Dedicated Subject Periods</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was delivered through dedicated subject periods, providing learners with structured time, consistent exposure, and progressive skill‑building in computational thinking that successfully strengthened their abilities throughout the year.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Integrated Across Subjects</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was integrated across multiple subjects (English, Math, Science), allowing learners to apply computational thinking within different learning contexts and meaningfully deepen their cross‑disciplinary skills all year.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Mixed Model Approach</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The school used a mixed model—dedicated coding periods alongside subject integration—to maximize opportunities, reinforce skills across contexts, and deliver a highly effective program tailored to each school's unique implementation.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Paired with ACE Electives</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was paired with ACE elective subjects (Academic or Co‑curricular), extending learning beyond regular classes while successfully connecting coding to broader academic and extracurricular achievements throughout the year.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Scheduled by Subject Area</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sessions were scheduled by subject area, ensuring teachers could weave computational thinking into their lessons at optimal times for maximum relevance, impact, and sustained learner success.</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Fixed Schedule with Computer</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followed a fixed schedule integrated with Computer subject, creating predictable time for hands‑on practice that consistently built strong ICT and coding proficiency across the school year.</a:t>
            </a:r>
            <a:endParaRPr sz="1000">
              <a:latin typeface="Inter"/>
              <a:ea typeface="Inter"/>
              <a:cs typeface="Inter"/>
              <a:sym typeface="Inte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3b0dfcf09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3b0dfcf0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400">
                <a:latin typeface="Inter"/>
                <a:ea typeface="Inter"/>
                <a:cs typeface="Inter"/>
                <a:sym typeface="Inter"/>
              </a:rPr>
              <a:t>Explainer options (for variation) </a:t>
            </a:r>
            <a:endParaRPr b="1" sz="1400">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The school may further strengthen coding next year by diversifying delivery modalities—expanding computer ACE Hub sessions, integrating classroom-based activities, or incorporating online formats to support flexibility and continuity.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To maximize coding opportunities next  year, the school may explore a fuller mix of modalities, combining ACE Hub sessions with classroom-based or online activities to sustain learning even during tight schedules or shifting conditions.</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can be amplified next year by using multiple delivery modes, more ACE Hub/computer lab time, flexible online sessions, or classroom-based integration.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A broader use of modalities next year </a:t>
            </a:r>
            <a:r>
              <a:rPr lang="en-US" sz="1000">
                <a:solidFill>
                  <a:schemeClr val="dk1"/>
                </a:solidFill>
                <a:latin typeface="Inter"/>
                <a:ea typeface="Inter"/>
                <a:cs typeface="Inter"/>
                <a:sym typeface="Inter"/>
              </a:rPr>
              <a:t>—</a:t>
            </a:r>
            <a:r>
              <a:rPr lang="en-US" sz="1000">
                <a:latin typeface="Inter"/>
                <a:ea typeface="Inter"/>
                <a:cs typeface="Inter"/>
                <a:sym typeface="Inter"/>
              </a:rPr>
              <a:t> ACE Hub/computer lab, classroom, and online — can help the school distribute sessions more effectively, boost participation, and maintain learner progress despite scheduling constraints.</a:t>
            </a:r>
            <a:endParaRPr sz="1000">
              <a:latin typeface="Inter"/>
              <a:ea typeface="Inter"/>
              <a:cs typeface="Inter"/>
              <a:sym typeface="Inte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410d82e30c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410d82e30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3b0dfcf09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3b0dfcf0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a036dee95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a036dee9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Edit Manually</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Options: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ACE Facilitator extends support across a wide range of learning activities—from orientations, onboarding, coding and build-and-code sessions to project creation, revisions, presentations, consultations, and schoolwide events.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ACE Facilitator supports activities ranging from orientations and coding sessions to project work, consultations, and schoolwide showcases.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Recommendatory lines;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To further maximize the impact of the ACE Program, the school administration is advised to regularly engage with the ACE Facilitator when planning schedules, strengthening integration, or expanding coding activities.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For further optimization of the ACE Program, the school may consult the ACE Facilitator for guidance and implementation support.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a036dee95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a036dee9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c984a2c6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ac984a2c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
        <p:nvSpPr>
          <p:cNvPr id="9" name="Google Shape;9;p2"/>
          <p:cNvSpPr txBox="1"/>
          <p:nvPr/>
        </p:nvSpPr>
        <p:spPr>
          <a:xfrm>
            <a:off x="1909375" y="233400"/>
            <a:ext cx="6371400" cy="7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1155CC"/>
                </a:solidFill>
                <a:latin typeface="Rajdhani Medium"/>
                <a:ea typeface="Rajdhani Medium"/>
                <a:cs typeface="Rajdhani Medium"/>
                <a:sym typeface="Rajdhani Medium"/>
              </a:rPr>
              <a:t>Year-end</a:t>
            </a:r>
            <a:r>
              <a:rPr lang="en-US" sz="2500">
                <a:solidFill>
                  <a:srgbClr val="1155CC"/>
                </a:solidFill>
                <a:latin typeface="Rajdhani Medium"/>
                <a:ea typeface="Rajdhani Medium"/>
                <a:cs typeface="Rajdhani Medium"/>
                <a:sym typeface="Rajdhani Medium"/>
              </a:rPr>
              <a:t> Program Integration Report</a:t>
            </a:r>
            <a:endParaRPr sz="2500">
              <a:solidFill>
                <a:srgbClr val="1155CC"/>
              </a:solidFill>
              <a:latin typeface="Rajdhani Medium"/>
              <a:ea typeface="Rajdhani Medium"/>
              <a:cs typeface="Rajdhani Medium"/>
              <a:sym typeface="Rajdhani Medium"/>
            </a:endParaRPr>
          </a:p>
          <a:p>
            <a:pPr indent="0" lvl="0" marL="0" rtl="0" algn="l">
              <a:spcBef>
                <a:spcPts val="0"/>
              </a:spcBef>
              <a:spcAft>
                <a:spcPts val="0"/>
              </a:spcAft>
              <a:buNone/>
            </a:pPr>
            <a:r>
              <a:rPr lang="en-US" sz="1600">
                <a:solidFill>
                  <a:srgbClr val="1155CC"/>
                </a:solidFill>
                <a:latin typeface="Inter"/>
                <a:ea typeface="Inter"/>
                <a:cs typeface="Inter"/>
                <a:sym typeface="Inter"/>
              </a:rPr>
              <a:t>S.Y. 2025 - 2026</a:t>
            </a:r>
            <a:endParaRPr sz="1600">
              <a:solidFill>
                <a:srgbClr val="1155CC"/>
              </a:solidFill>
              <a:latin typeface="Inter"/>
              <a:ea typeface="Inter"/>
              <a:cs typeface="Inter"/>
              <a:sym typeface="Inter"/>
            </a:endParaRPr>
          </a:p>
          <a:p>
            <a:pPr indent="0" lvl="0" marL="0" rtl="0" algn="l">
              <a:spcBef>
                <a:spcPts val="0"/>
              </a:spcBef>
              <a:spcAft>
                <a:spcPts val="0"/>
              </a:spcAft>
              <a:buNone/>
            </a:pPr>
            <a:r>
              <a:t/>
            </a:r>
            <a:endParaRPr sz="2500">
              <a:solidFill>
                <a:srgbClr val="1155CC"/>
              </a:solidFill>
              <a:latin typeface="Rajdhani Medium"/>
              <a:ea typeface="Rajdhani Medium"/>
              <a:cs typeface="Rajdhani Medium"/>
              <a:sym typeface="Rajdhani Medium"/>
            </a:endParaRPr>
          </a:p>
        </p:txBody>
      </p:sp>
      <p:pic>
        <p:nvPicPr>
          <p:cNvPr id="10" name="Google Shape;10;p2" title="ACE.png"/>
          <p:cNvPicPr preferRelativeResize="0"/>
          <p:nvPr/>
        </p:nvPicPr>
        <p:blipFill rotWithShape="1">
          <a:blip r:embed="rId2">
            <a:alphaModFix/>
          </a:blip>
          <a:srcRect b="13912" l="0" r="0" t="0"/>
          <a:stretch/>
        </p:blipFill>
        <p:spPr>
          <a:xfrm>
            <a:off x="306125" y="385812"/>
            <a:ext cx="822960" cy="567842"/>
          </a:xfrm>
          <a:prstGeom prst="rect">
            <a:avLst/>
          </a:prstGeom>
          <a:noFill/>
          <a:ln>
            <a:noFill/>
          </a:ln>
        </p:spPr>
      </p:pic>
      <p:sp>
        <p:nvSpPr>
          <p:cNvPr id="11" name="Google Shape;11;p2"/>
          <p:cNvSpPr txBox="1"/>
          <p:nvPr/>
        </p:nvSpPr>
        <p:spPr>
          <a:xfrm>
            <a:off x="1038850" y="309600"/>
            <a:ext cx="1131000" cy="10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Aralinks</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Coding</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Education</a:t>
            </a:r>
            <a:endParaRPr sz="1200">
              <a:solidFill>
                <a:srgbClr val="ED7D31"/>
              </a:solidFill>
              <a:latin typeface="Inter Medium"/>
              <a:ea typeface="Inter Medium"/>
              <a:cs typeface="Inter Medium"/>
              <a:sym typeface="Inter Medium"/>
            </a:endParaRPr>
          </a:p>
        </p:txBody>
      </p:sp>
      <p:sp>
        <p:nvSpPr>
          <p:cNvPr id="12" name="Google Shape;12;p2"/>
          <p:cNvSpPr txBox="1"/>
          <p:nvPr/>
        </p:nvSpPr>
        <p:spPr>
          <a:xfrm>
            <a:off x="917100" y="9581850"/>
            <a:ext cx="1645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200">
                <a:latin typeface="Lato"/>
                <a:ea typeface="Lato"/>
                <a:cs typeface="Lato"/>
                <a:sym typeface="Lato"/>
              </a:rPr>
              <a:t>© 2025 by The Digital Innovation Department, PPH Digital Media Production Inc.. All Rights Reserved. No part of this document may be reproduced in any form or by any means without written permission from the authors and the publisher.</a:t>
            </a:r>
            <a:endParaRPr sz="1200">
              <a:latin typeface="Lato"/>
              <a:ea typeface="Lato"/>
              <a:cs typeface="Lato"/>
              <a:sym typeface="Lato"/>
            </a:endParaRPr>
          </a:p>
        </p:txBody>
      </p:sp>
    </p:spTree>
  </p:cSld>
  <p:clrMapOvr>
    <a:masterClrMapping/>
  </p:clrMapOvr>
  <p:extLst>
    <p:ext uri="{DCECCB84-F9BA-43D5-87BE-67443E8EF086}">
      <p15:sldGuideLst>
        <p15:guide id="1" orient="horz" pos="3240">
          <p15:clr>
            <a:srgbClr val="FF00FF"/>
          </p15:clr>
        </p15:guide>
        <p15:guide id="2" pos="5760">
          <p15:clr>
            <a:srgbClr val="FF00FF"/>
          </p15:clr>
        </p15:guide>
        <p15:guide id="3" orient="horz" pos="576">
          <p15:clr>
            <a:srgbClr val="FF00FF"/>
          </p15:clr>
        </p15:guide>
        <p15:guide id="4" pos="11232">
          <p15:clr>
            <a:srgbClr val="FF00FF"/>
          </p15:clr>
        </p15:guide>
        <p15:guide id="5" pos="288">
          <p15:clr>
            <a:srgbClr val="FF00FF"/>
          </p15:clr>
        </p15:guide>
        <p15:guide id="6" orient="horz" pos="6192">
          <p15:clr>
            <a:srgbClr val="FF00FF"/>
          </p15:clr>
        </p15:guide>
        <p15:guide id="7" pos="3816">
          <p15:clr>
            <a:srgbClr val="FF00FF"/>
          </p15:clr>
        </p15:guide>
        <p15:guide id="8" pos="7663">
          <p15:clr>
            <a:srgbClr val="FF00FF"/>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3" name="Shape 13"/>
        <p:cNvGrpSpPr/>
        <p:nvPr/>
      </p:nvGrpSpPr>
      <p:grpSpPr>
        <a:xfrm>
          <a:off x="0" y="0"/>
          <a:ext cx="0" cy="0"/>
          <a:chOff x="0" y="0"/>
          <a:chExt cx="0" cy="0"/>
        </a:xfrm>
      </p:grpSpPr>
      <p:sp>
        <p:nvSpPr>
          <p:cNvPr id="14" name="Google Shape;14;p3"/>
          <p:cNvSpPr txBox="1"/>
          <p:nvPr/>
        </p:nvSpPr>
        <p:spPr>
          <a:xfrm>
            <a:off x="1909375" y="233400"/>
            <a:ext cx="5873400" cy="7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500">
                <a:solidFill>
                  <a:srgbClr val="1155CC"/>
                </a:solidFill>
                <a:latin typeface="Rajdhani Medium"/>
                <a:ea typeface="Rajdhani Medium"/>
                <a:cs typeface="Rajdhani Medium"/>
                <a:sym typeface="Rajdhani Medium"/>
              </a:rPr>
              <a:t>Year-end Program Integration Report</a:t>
            </a:r>
            <a:endParaRPr sz="2500">
              <a:solidFill>
                <a:srgbClr val="1155CC"/>
              </a:solidFill>
              <a:latin typeface="Rajdhani Medium"/>
              <a:ea typeface="Rajdhani Medium"/>
              <a:cs typeface="Rajdhani Medium"/>
              <a:sym typeface="Rajdhani Medium"/>
            </a:endParaRPr>
          </a:p>
          <a:p>
            <a:pPr indent="0" lvl="0" marL="0" rtl="0" algn="l">
              <a:spcBef>
                <a:spcPts val="0"/>
              </a:spcBef>
              <a:spcAft>
                <a:spcPts val="0"/>
              </a:spcAft>
              <a:buClr>
                <a:schemeClr val="dk1"/>
              </a:buClr>
              <a:buSzPts val="1100"/>
              <a:buFont typeface="Arial"/>
              <a:buNone/>
            </a:pPr>
            <a:r>
              <a:rPr lang="en-US" sz="1600">
                <a:solidFill>
                  <a:srgbClr val="1155CC"/>
                </a:solidFill>
                <a:latin typeface="Inter"/>
                <a:ea typeface="Inter"/>
                <a:cs typeface="Inter"/>
                <a:sym typeface="Inter"/>
              </a:rPr>
              <a:t>S.Y. 2025 - 2026</a:t>
            </a:r>
            <a:endParaRPr sz="1600">
              <a:solidFill>
                <a:srgbClr val="1155CC"/>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2500">
              <a:solidFill>
                <a:srgbClr val="1155CC"/>
              </a:solidFill>
              <a:latin typeface="Rajdhani Medium"/>
              <a:ea typeface="Rajdhani Medium"/>
              <a:cs typeface="Rajdhani Medium"/>
              <a:sym typeface="Rajdhani Medium"/>
            </a:endParaRPr>
          </a:p>
          <a:p>
            <a:pPr indent="0" lvl="0" marL="0" rtl="0" algn="l">
              <a:spcBef>
                <a:spcPts val="0"/>
              </a:spcBef>
              <a:spcAft>
                <a:spcPts val="0"/>
              </a:spcAft>
              <a:buNone/>
            </a:pPr>
            <a:r>
              <a:t/>
            </a:r>
            <a:endParaRPr sz="2500">
              <a:solidFill>
                <a:srgbClr val="1155CC"/>
              </a:solidFill>
              <a:latin typeface="Rajdhani Medium"/>
              <a:ea typeface="Rajdhani Medium"/>
              <a:cs typeface="Rajdhani Medium"/>
              <a:sym typeface="Rajdhani Medium"/>
            </a:endParaRPr>
          </a:p>
        </p:txBody>
      </p:sp>
      <p:pic>
        <p:nvPicPr>
          <p:cNvPr id="15" name="Google Shape;15;p3" title="ACE.png"/>
          <p:cNvPicPr preferRelativeResize="0"/>
          <p:nvPr/>
        </p:nvPicPr>
        <p:blipFill rotWithShape="1">
          <a:blip r:embed="rId2">
            <a:alphaModFix/>
          </a:blip>
          <a:srcRect b="13912" l="0" r="0" t="0"/>
          <a:stretch/>
        </p:blipFill>
        <p:spPr>
          <a:xfrm>
            <a:off x="306125" y="385812"/>
            <a:ext cx="822960" cy="567842"/>
          </a:xfrm>
          <a:prstGeom prst="rect">
            <a:avLst/>
          </a:prstGeom>
          <a:noFill/>
          <a:ln>
            <a:noFill/>
          </a:ln>
        </p:spPr>
      </p:pic>
      <p:sp>
        <p:nvSpPr>
          <p:cNvPr id="16" name="Google Shape;16;p3"/>
          <p:cNvSpPr txBox="1"/>
          <p:nvPr/>
        </p:nvSpPr>
        <p:spPr>
          <a:xfrm>
            <a:off x="1038850" y="309600"/>
            <a:ext cx="1131000" cy="10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Aralinks</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Coding</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Education</a:t>
            </a:r>
            <a:endParaRPr sz="1200">
              <a:solidFill>
                <a:srgbClr val="ED7D31"/>
              </a:solidFill>
              <a:latin typeface="Inter Medium"/>
              <a:ea typeface="Inter Medium"/>
              <a:cs typeface="Inter Medium"/>
              <a:sym typeface="Inter Medium"/>
            </a:endParaRPr>
          </a:p>
        </p:txBody>
      </p:sp>
    </p:spTree>
  </p:cSld>
  <p:clrMapOvr>
    <a:masterClrMapping/>
  </p:clrMapOvr>
  <p:extLst>
    <p:ext uri="{DCECCB84-F9BA-43D5-87BE-67443E8EF086}">
      <p15:sldGuideLst>
        <p15:guide id="1" orient="horz" pos="3240">
          <p15:clr>
            <a:srgbClr val="FF00FF"/>
          </p15:clr>
        </p15:guide>
        <p15:guide id="2" pos="5760">
          <p15:clr>
            <a:srgbClr val="FF00FF"/>
          </p15:clr>
        </p15:guide>
        <p15:guide id="3" orient="horz" pos="576">
          <p15:clr>
            <a:srgbClr val="FF00FF"/>
          </p15:clr>
        </p15:guide>
        <p15:guide id="4" pos="11232">
          <p15:clr>
            <a:srgbClr val="FF00FF"/>
          </p15:clr>
        </p15:guide>
        <p15:guide id="5" pos="288">
          <p15:clr>
            <a:srgbClr val="FF00FF"/>
          </p15:clr>
        </p15:guide>
        <p15:guide id="6" orient="horz" pos="6192">
          <p15:clr>
            <a:srgbClr val="FF00FF"/>
          </p15:clr>
        </p15:guide>
        <p15:guide id="7" pos="3816">
          <p15:clr>
            <a:srgbClr val="FF00FF"/>
          </p15:clr>
        </p15:guide>
        <p15:guide id="8" pos="7663">
          <p15:clr>
            <a:srgbClr val="FF00FF"/>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0600" y="274650"/>
            <a:ext cx="17266800" cy="1617300"/>
          </a:xfrm>
          <a:prstGeom prst="rect">
            <a:avLst/>
          </a:prstGeom>
          <a:noFill/>
          <a:ln>
            <a:noFill/>
          </a:ln>
        </p:spPr>
        <p:txBody>
          <a:bodyPr anchorCtr="0" anchor="t" bIns="45700" lIns="91425" spcFirstLastPara="1" rIns="91425" wrap="square" tIns="45700">
            <a:noAutofit/>
          </a:bodyPr>
          <a:lstStyle>
            <a:lvl1pPr lvl="0" marR="0" algn="ctr">
              <a:spcBef>
                <a:spcPts val="0"/>
              </a:spcBef>
              <a:spcAft>
                <a:spcPts val="0"/>
              </a:spcAft>
              <a:buClr>
                <a:schemeClr val="lt1"/>
              </a:buClr>
              <a:buSzPts val="10500"/>
              <a:buFont typeface="Rajdhani"/>
              <a:buNone/>
              <a:defRPr i="0" sz="10500" u="none" cap="none" strike="noStrike">
                <a:solidFill>
                  <a:schemeClr val="lt1"/>
                </a:solidFill>
                <a:latin typeface="Rajdhani"/>
                <a:ea typeface="Rajdhani"/>
                <a:cs typeface="Rajdhani"/>
                <a:sym typeface="Rajdhani"/>
              </a:defRPr>
            </a:lvl1pPr>
            <a:lvl2pPr lvl="1">
              <a:spcBef>
                <a:spcPts val="0"/>
              </a:spcBef>
              <a:spcAft>
                <a:spcPts val="0"/>
              </a:spcAft>
              <a:buClr>
                <a:schemeClr val="lt1"/>
              </a:buClr>
              <a:buSzPts val="1400"/>
              <a:buNone/>
              <a:defRPr sz="1800">
                <a:solidFill>
                  <a:schemeClr val="lt1"/>
                </a:solidFill>
              </a:defRPr>
            </a:lvl2pPr>
            <a:lvl3pPr lvl="2">
              <a:spcBef>
                <a:spcPts val="0"/>
              </a:spcBef>
              <a:spcAft>
                <a:spcPts val="0"/>
              </a:spcAft>
              <a:buClr>
                <a:schemeClr val="lt1"/>
              </a:buClr>
              <a:buSzPts val="1400"/>
              <a:buNone/>
              <a:defRPr sz="1800">
                <a:solidFill>
                  <a:schemeClr val="lt1"/>
                </a:solidFill>
              </a:defRPr>
            </a:lvl3pPr>
            <a:lvl4pPr lvl="3">
              <a:spcBef>
                <a:spcPts val="0"/>
              </a:spcBef>
              <a:spcAft>
                <a:spcPts val="0"/>
              </a:spcAft>
              <a:buClr>
                <a:schemeClr val="lt1"/>
              </a:buClr>
              <a:buSzPts val="1400"/>
              <a:buNone/>
              <a:defRPr sz="1800">
                <a:solidFill>
                  <a:schemeClr val="lt1"/>
                </a:solidFill>
              </a:defRPr>
            </a:lvl4pPr>
            <a:lvl5pPr lvl="4">
              <a:spcBef>
                <a:spcPts val="0"/>
              </a:spcBef>
              <a:spcAft>
                <a:spcPts val="0"/>
              </a:spcAft>
              <a:buClr>
                <a:schemeClr val="lt1"/>
              </a:buClr>
              <a:buSzPts val="1400"/>
              <a:buNone/>
              <a:defRPr sz="1800">
                <a:solidFill>
                  <a:schemeClr val="lt1"/>
                </a:solidFill>
              </a:defRPr>
            </a:lvl5pPr>
            <a:lvl6pPr lvl="5">
              <a:spcBef>
                <a:spcPts val="0"/>
              </a:spcBef>
              <a:spcAft>
                <a:spcPts val="0"/>
              </a:spcAft>
              <a:buClr>
                <a:schemeClr val="lt1"/>
              </a:buClr>
              <a:buSzPts val="1400"/>
              <a:buNone/>
              <a:defRPr sz="1800">
                <a:solidFill>
                  <a:schemeClr val="lt1"/>
                </a:solidFill>
              </a:defRPr>
            </a:lvl6pPr>
            <a:lvl7pPr lvl="6">
              <a:spcBef>
                <a:spcPts val="0"/>
              </a:spcBef>
              <a:spcAft>
                <a:spcPts val="0"/>
              </a:spcAft>
              <a:buClr>
                <a:schemeClr val="lt1"/>
              </a:buClr>
              <a:buSzPts val="1400"/>
              <a:buNone/>
              <a:defRPr sz="1800">
                <a:solidFill>
                  <a:schemeClr val="lt1"/>
                </a:solidFill>
              </a:defRPr>
            </a:lvl7pPr>
            <a:lvl8pPr lvl="7">
              <a:spcBef>
                <a:spcPts val="0"/>
              </a:spcBef>
              <a:spcAft>
                <a:spcPts val="0"/>
              </a:spcAft>
              <a:buClr>
                <a:schemeClr val="lt1"/>
              </a:buClr>
              <a:buSzPts val="1400"/>
              <a:buNone/>
              <a:defRPr sz="1800">
                <a:solidFill>
                  <a:schemeClr val="lt1"/>
                </a:solidFill>
              </a:defRPr>
            </a:lvl8pPr>
            <a:lvl9pPr lvl="8">
              <a:spcBef>
                <a:spcPts val="0"/>
              </a:spcBef>
              <a:spcAft>
                <a:spcPts val="0"/>
              </a:spcAft>
              <a:buClr>
                <a:schemeClr val="lt1"/>
              </a:buClr>
              <a:buSzPts val="1400"/>
              <a:buNone/>
              <a:defRPr sz="1800">
                <a:solidFill>
                  <a:schemeClr val="lt1"/>
                </a:solidFill>
              </a:defRPr>
            </a:lvl9pPr>
          </a:lstStyle>
          <a:p/>
        </p:txBody>
      </p:sp>
      <p:sp>
        <p:nvSpPr>
          <p:cNvPr id="7" name="Google Shape;7;p1"/>
          <p:cNvSpPr txBox="1"/>
          <p:nvPr>
            <p:ph idx="1" type="body"/>
          </p:nvPr>
        </p:nvSpPr>
        <p:spPr>
          <a:xfrm>
            <a:off x="5029200" y="2504925"/>
            <a:ext cx="8229600" cy="4526100"/>
          </a:xfrm>
          <a:prstGeom prst="rect">
            <a:avLst/>
          </a:prstGeom>
          <a:noFill/>
          <a:ln>
            <a:noFill/>
          </a:ln>
        </p:spPr>
        <p:txBody>
          <a:bodyPr anchorCtr="0" anchor="t" bIns="45700" lIns="91425" spcFirstLastPara="1" rIns="91425" wrap="square" tIns="45700">
            <a:noAutofit/>
          </a:bodyPr>
          <a:lstStyle>
            <a:lvl1pPr indent="-355600" lvl="0" marL="457200" marR="0" algn="ctr">
              <a:spcBef>
                <a:spcPts val="64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1pPr>
            <a:lvl2pPr indent="-355600" lvl="1" marL="914400" marR="0" algn="ctr">
              <a:spcBef>
                <a:spcPts val="56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2pPr>
            <a:lvl3pPr indent="-355600" lvl="2" marL="1371600" marR="0" algn="ctr">
              <a:spcBef>
                <a:spcPts val="48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3pPr>
            <a:lvl4pPr indent="-355600" lvl="3" marL="18288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4pPr>
            <a:lvl5pPr indent="-355600" lvl="4" marL="22860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5pPr>
            <a:lvl6pPr indent="-355600" lvl="5" marL="27432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6pPr>
            <a:lvl7pPr indent="-355600" lvl="6" marL="32004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7pPr>
            <a:lvl8pPr indent="-355600" lvl="7" marL="36576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8pPr>
            <a:lvl9pPr indent="-355600" lvl="8" marL="41148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5.png"/><Relationship Id="rId7"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4"/>
          <p:cNvSpPr/>
          <p:nvPr/>
        </p:nvSpPr>
        <p:spPr>
          <a:xfrm rot="2420175">
            <a:off x="17996002" y="7254645"/>
            <a:ext cx="1828906" cy="1828906"/>
          </a:xfrm>
          <a:prstGeom prst="roundRect">
            <a:avLst>
              <a:gd fmla="val 4441" name="adj"/>
            </a:avLst>
          </a:prstGeom>
          <a:solidFill>
            <a:schemeClr val="lt1"/>
          </a:solid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2" name="Google Shape;22;p4"/>
          <p:cNvPicPr preferRelativeResize="0"/>
          <p:nvPr/>
        </p:nvPicPr>
        <p:blipFill rotWithShape="1">
          <a:blip r:embed="rId3">
            <a:alphaModFix/>
          </a:blip>
          <a:srcRect b="0" l="0" r="15419" t="0"/>
          <a:stretch/>
        </p:blipFill>
        <p:spPr>
          <a:xfrm>
            <a:off x="11712275" y="2107775"/>
            <a:ext cx="6015424" cy="6071450"/>
          </a:xfrm>
          <a:prstGeom prst="rect">
            <a:avLst/>
          </a:prstGeom>
          <a:noFill/>
          <a:ln>
            <a:noFill/>
          </a:ln>
        </p:spPr>
      </p:pic>
      <p:pic>
        <p:nvPicPr>
          <p:cNvPr id="23" name="Google Shape;23;p4" title="ACE.png"/>
          <p:cNvPicPr preferRelativeResize="0"/>
          <p:nvPr/>
        </p:nvPicPr>
        <p:blipFill rotWithShape="1">
          <a:blip r:embed="rId4">
            <a:alphaModFix/>
          </a:blip>
          <a:srcRect b="13912" l="0" r="0" t="0"/>
          <a:stretch/>
        </p:blipFill>
        <p:spPr>
          <a:xfrm>
            <a:off x="702675" y="3721512"/>
            <a:ext cx="1130863" cy="788725"/>
          </a:xfrm>
          <a:prstGeom prst="rect">
            <a:avLst/>
          </a:prstGeom>
          <a:noFill/>
          <a:ln>
            <a:noFill/>
          </a:ln>
        </p:spPr>
      </p:pic>
      <p:sp>
        <p:nvSpPr>
          <p:cNvPr id="24" name="Google Shape;24;p4"/>
          <p:cNvSpPr txBox="1"/>
          <p:nvPr/>
        </p:nvSpPr>
        <p:spPr>
          <a:xfrm>
            <a:off x="1681550" y="3818425"/>
            <a:ext cx="57600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900">
                <a:solidFill>
                  <a:srgbClr val="1155CC"/>
                </a:solidFill>
                <a:latin typeface="Inter Medium"/>
                <a:ea typeface="Inter Medium"/>
                <a:cs typeface="Inter Medium"/>
                <a:sym typeface="Inter Medium"/>
              </a:rPr>
              <a:t>Aralinks Coding Education</a:t>
            </a:r>
            <a:endParaRPr sz="2900">
              <a:solidFill>
                <a:srgbClr val="1155CC"/>
              </a:solidFill>
              <a:latin typeface="Inter Medium"/>
              <a:ea typeface="Inter Medium"/>
              <a:cs typeface="Inter Medium"/>
              <a:sym typeface="Inter Medium"/>
            </a:endParaRPr>
          </a:p>
        </p:txBody>
      </p:sp>
      <p:sp>
        <p:nvSpPr>
          <p:cNvPr id="25" name="Google Shape;25;p4"/>
          <p:cNvSpPr txBox="1"/>
          <p:nvPr/>
        </p:nvSpPr>
        <p:spPr>
          <a:xfrm>
            <a:off x="638850" y="4487214"/>
            <a:ext cx="9041700" cy="8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rgbClr val="ED7D31"/>
                </a:solidFill>
                <a:latin typeface="Rajdhani"/>
                <a:ea typeface="Rajdhani"/>
                <a:cs typeface="Rajdhani"/>
                <a:sym typeface="Rajdhani"/>
              </a:rPr>
              <a:t>Year-end Program Integration Report</a:t>
            </a:r>
            <a:endParaRPr b="1" sz="4000">
              <a:solidFill>
                <a:srgbClr val="ED7D31"/>
              </a:solidFill>
              <a:latin typeface="Rajdhani"/>
              <a:ea typeface="Rajdhani"/>
              <a:cs typeface="Rajdhani"/>
              <a:sym typeface="Rajdhani"/>
            </a:endParaRPr>
          </a:p>
        </p:txBody>
      </p:sp>
      <p:sp>
        <p:nvSpPr>
          <p:cNvPr id="26" name="Google Shape;26;p4"/>
          <p:cNvSpPr/>
          <p:nvPr/>
        </p:nvSpPr>
        <p:spPr>
          <a:xfrm rot="-5400000">
            <a:off x="10440375" y="6446950"/>
            <a:ext cx="3283500" cy="3283500"/>
          </a:xfrm>
          <a:prstGeom prst="arc">
            <a:avLst>
              <a:gd fmla="val 16200000" name="adj1"/>
              <a:gd fmla="val 0" name="adj2"/>
            </a:avLst>
          </a:prstGeom>
          <a:noFill/>
          <a:ln cap="flat" cmpd="sng" w="76200">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nvGrpSpPr>
          <p:cNvPr id="27" name="Google Shape;27;p4"/>
          <p:cNvGrpSpPr/>
          <p:nvPr/>
        </p:nvGrpSpPr>
        <p:grpSpPr>
          <a:xfrm>
            <a:off x="16148738" y="2025564"/>
            <a:ext cx="626402" cy="626402"/>
            <a:chOff x="2863215" y="5306949"/>
            <a:chExt cx="842391" cy="842391"/>
          </a:xfrm>
        </p:grpSpPr>
        <p:sp>
          <p:nvSpPr>
            <p:cNvPr id="28" name="Google Shape;28;p4"/>
            <p:cNvSpPr/>
            <p:nvPr/>
          </p:nvSpPr>
          <p:spPr>
            <a:xfrm>
              <a:off x="2863215" y="5306949"/>
              <a:ext cx="842391" cy="842391"/>
            </a:xfrm>
            <a:custGeom>
              <a:rect b="b" l="l" r="r" t="t"/>
              <a:pathLst>
                <a:path extrusionOk="0" h="842391" w="842391">
                  <a:moveTo>
                    <a:pt x="842391" y="421196"/>
                  </a:moveTo>
                  <a:cubicBezTo>
                    <a:pt x="842391" y="653815"/>
                    <a:pt x="653815" y="842391"/>
                    <a:pt x="421195" y="842391"/>
                  </a:cubicBezTo>
                  <a:cubicBezTo>
                    <a:pt x="188575" y="842391"/>
                    <a:pt x="0" y="653815"/>
                    <a:pt x="0" y="421196"/>
                  </a:cubicBezTo>
                  <a:cubicBezTo>
                    <a:pt x="0" y="188576"/>
                    <a:pt x="188576" y="0"/>
                    <a:pt x="421195" y="0"/>
                  </a:cubicBezTo>
                  <a:cubicBezTo>
                    <a:pt x="653815" y="0"/>
                    <a:pt x="842391" y="188576"/>
                    <a:pt x="842391" y="421196"/>
                  </a:cubicBezTo>
                  <a:close/>
                </a:path>
              </a:pathLst>
            </a:custGeom>
            <a:solidFill>
              <a:srgbClr val="FF990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nvGrpSpPr>
            <p:cNvPr id="29" name="Google Shape;29;p4"/>
            <p:cNvGrpSpPr/>
            <p:nvPr/>
          </p:nvGrpSpPr>
          <p:grpSpPr>
            <a:xfrm>
              <a:off x="3124581" y="5568315"/>
              <a:ext cx="319595" cy="319595"/>
              <a:chOff x="3124581" y="5568315"/>
              <a:chExt cx="319595" cy="319595"/>
            </a:xfrm>
          </p:grpSpPr>
          <p:sp>
            <p:nvSpPr>
              <p:cNvPr id="30" name="Google Shape;30;p4"/>
              <p:cNvSpPr/>
              <p:nvPr/>
            </p:nvSpPr>
            <p:spPr>
              <a:xfrm>
                <a:off x="3124581" y="5728144"/>
                <a:ext cx="319595" cy="6350"/>
              </a:xfrm>
              <a:custGeom>
                <a:rect b="b" l="l" r="r" t="t"/>
                <a:pathLst>
                  <a:path extrusionOk="0" h="6350" w="319595">
                    <a:moveTo>
                      <a:pt x="0" y="0"/>
                    </a:moveTo>
                    <a:lnTo>
                      <a:pt x="319596" y="0"/>
                    </a:lnTo>
                  </a:path>
                </a:pathLst>
              </a:custGeom>
              <a:solidFill>
                <a:srgbClr val="FF9900"/>
              </a:solid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 name="Google Shape;31;p4"/>
              <p:cNvSpPr/>
              <p:nvPr/>
            </p:nvSpPr>
            <p:spPr>
              <a:xfrm>
                <a:off x="3284410" y="5568315"/>
                <a:ext cx="6350" cy="319595"/>
              </a:xfrm>
              <a:custGeom>
                <a:rect b="b" l="l" r="r" t="t"/>
                <a:pathLst>
                  <a:path extrusionOk="0" h="319595" w="6350">
                    <a:moveTo>
                      <a:pt x="0" y="319595"/>
                    </a:moveTo>
                    <a:lnTo>
                      <a:pt x="0" y="0"/>
                    </a:lnTo>
                  </a:path>
                </a:pathLst>
              </a:custGeom>
              <a:solidFill>
                <a:srgbClr val="FF9900"/>
              </a:solid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32" name="Google Shape;32;p4"/>
          <p:cNvSpPr txBox="1"/>
          <p:nvPr/>
        </p:nvSpPr>
        <p:spPr>
          <a:xfrm>
            <a:off x="638850" y="5317500"/>
            <a:ext cx="94122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rgbClr val="1155CC"/>
                </a:solidFill>
                <a:latin typeface="Inter"/>
                <a:ea typeface="Inter"/>
                <a:cs typeface="Inter"/>
                <a:sym typeface="Inter"/>
              </a:rPr>
              <a:t>Colegio de la Immaculada Concepcion - Gorordo</a:t>
            </a:r>
            <a:endParaRPr sz="2000">
              <a:solidFill>
                <a:srgbClr val="1155CC"/>
              </a:solidFill>
              <a:latin typeface="Rajdhani"/>
              <a:ea typeface="Rajdhani"/>
              <a:cs typeface="Rajdhani"/>
              <a:sym typeface="Rajdhani"/>
            </a:endParaRPr>
          </a:p>
        </p:txBody>
      </p:sp>
      <p:sp>
        <p:nvSpPr>
          <p:cNvPr id="33" name="Google Shape;33;p4"/>
          <p:cNvSpPr txBox="1"/>
          <p:nvPr/>
        </p:nvSpPr>
        <p:spPr>
          <a:xfrm>
            <a:off x="702675" y="6200038"/>
            <a:ext cx="7188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1155CC"/>
                </a:solidFill>
                <a:latin typeface="Rajdhani"/>
                <a:ea typeface="Rajdhani"/>
                <a:cs typeface="Rajdhani"/>
                <a:sym typeface="Rajdhani"/>
              </a:rPr>
              <a:t>Report Generation: SY 2025 - 2026</a:t>
            </a:r>
            <a:endParaRPr/>
          </a:p>
        </p:txBody>
      </p:sp>
      <p:sp>
        <p:nvSpPr>
          <p:cNvPr id="34" name="Google Shape;34;p4"/>
          <p:cNvSpPr/>
          <p:nvPr/>
        </p:nvSpPr>
        <p:spPr>
          <a:xfrm>
            <a:off x="200225" y="146350"/>
            <a:ext cx="7064700" cy="10185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 name="Google Shape;35;p4"/>
          <p:cNvSpPr/>
          <p:nvPr/>
        </p:nvSpPr>
        <p:spPr>
          <a:xfrm>
            <a:off x="0" y="9268500"/>
            <a:ext cx="18222000" cy="10185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5"/>
          <p:cNvSpPr/>
          <p:nvPr/>
        </p:nvSpPr>
        <p:spPr>
          <a:xfrm>
            <a:off x="7656300" y="-42275"/>
            <a:ext cx="10631700" cy="10448400"/>
          </a:xfrm>
          <a:prstGeom prst="rect">
            <a:avLst/>
          </a:prstGeom>
          <a:solidFill>
            <a:srgbClr val="FFFFFF">
              <a:alpha val="8999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 name="Google Shape;41;p5"/>
          <p:cNvSpPr txBox="1"/>
          <p:nvPr/>
        </p:nvSpPr>
        <p:spPr>
          <a:xfrm>
            <a:off x="-2689806" y="3757800"/>
            <a:ext cx="7686300" cy="2457000"/>
          </a:xfrm>
          <a:prstGeom prst="rect">
            <a:avLst/>
          </a:prstGeom>
          <a:noFill/>
          <a:ln>
            <a:noFill/>
          </a:ln>
        </p:spPr>
        <p:txBody>
          <a:bodyPr anchorCtr="0" anchor="t" bIns="91425" lIns="0" spcFirstLastPara="1" rIns="91425" wrap="square" tIns="0">
            <a:noAutofit/>
          </a:bodyPr>
          <a:lstStyle/>
          <a:p>
            <a:pPr indent="0" lvl="0" marL="0" rtl="0" algn="r">
              <a:spcBef>
                <a:spcPts val="0"/>
              </a:spcBef>
              <a:spcAft>
                <a:spcPts val="0"/>
              </a:spcAft>
              <a:buClr>
                <a:schemeClr val="dk1"/>
              </a:buClr>
              <a:buSzPts val="1100"/>
              <a:buFont typeface="Arial"/>
              <a:buNone/>
            </a:pPr>
            <a:r>
              <a:rPr b="1" lang="en-US" sz="15000">
                <a:solidFill>
                  <a:srgbClr val="1155CC"/>
                </a:solidFill>
                <a:latin typeface="JetBrains Mono"/>
                <a:ea typeface="JetBrains Mono"/>
                <a:cs typeface="JetBrains Mono"/>
                <a:sym typeface="JetBrains Mono"/>
              </a:rPr>
              <a:t>371</a:t>
            </a:r>
            <a:endParaRPr b="1" sz="15000">
              <a:solidFill>
                <a:srgbClr val="1155CC"/>
              </a:solidFill>
            </a:endParaRPr>
          </a:p>
          <a:p>
            <a:pPr indent="0" lvl="0" marL="0" rtl="0" algn="l">
              <a:spcBef>
                <a:spcPts val="0"/>
              </a:spcBef>
              <a:spcAft>
                <a:spcPts val="0"/>
              </a:spcAft>
              <a:buClr>
                <a:schemeClr val="dk1"/>
              </a:buClr>
              <a:buSzPts val="1100"/>
              <a:buFont typeface="Arial"/>
              <a:buNone/>
            </a:pPr>
            <a:r>
              <a:t/>
            </a:r>
            <a:endParaRPr b="1" sz="15000">
              <a:solidFill>
                <a:srgbClr val="1155CC"/>
              </a:solidFill>
            </a:endParaRPr>
          </a:p>
          <a:p>
            <a:pPr indent="0" lvl="0" marL="0" rtl="0" algn="l">
              <a:spcBef>
                <a:spcPts val="0"/>
              </a:spcBef>
              <a:spcAft>
                <a:spcPts val="0"/>
              </a:spcAft>
              <a:buNone/>
            </a:pPr>
            <a:r>
              <a:t/>
            </a:r>
            <a:endParaRPr b="1" sz="15000">
              <a:solidFill>
                <a:srgbClr val="1155CC"/>
              </a:solidFill>
              <a:latin typeface="JetBrains Mono"/>
              <a:ea typeface="JetBrains Mono"/>
              <a:cs typeface="JetBrains Mono"/>
              <a:sym typeface="JetBrains Mono"/>
            </a:endParaRPr>
          </a:p>
        </p:txBody>
      </p:sp>
      <p:sp>
        <p:nvSpPr>
          <p:cNvPr id="42" name="Google Shape;42;p5"/>
          <p:cNvSpPr txBox="1"/>
          <p:nvPr/>
        </p:nvSpPr>
        <p:spPr>
          <a:xfrm>
            <a:off x="1466519" y="2462050"/>
            <a:ext cx="17862300" cy="12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7500">
                <a:solidFill>
                  <a:schemeClr val="dk1"/>
                </a:solidFill>
                <a:latin typeface="Rajdhani Medium"/>
                <a:ea typeface="Rajdhani Medium"/>
                <a:cs typeface="Rajdhani Medium"/>
                <a:sym typeface="Rajdhani Medium"/>
              </a:rPr>
              <a:t>Over</a:t>
            </a:r>
            <a:endParaRPr sz="7500">
              <a:solidFill>
                <a:srgbClr val="434343"/>
              </a:solidFill>
              <a:latin typeface="Rajdhani"/>
              <a:ea typeface="Rajdhani"/>
              <a:cs typeface="Rajdhani"/>
              <a:sym typeface="Rajdhani"/>
            </a:endParaRPr>
          </a:p>
        </p:txBody>
      </p:sp>
      <p:sp>
        <p:nvSpPr>
          <p:cNvPr id="43" name="Google Shape;43;p5"/>
          <p:cNvSpPr txBox="1"/>
          <p:nvPr/>
        </p:nvSpPr>
        <p:spPr>
          <a:xfrm>
            <a:off x="5560569" y="4333825"/>
            <a:ext cx="9486300" cy="16962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US" sz="5800">
                <a:solidFill>
                  <a:srgbClr val="FF9900"/>
                </a:solidFill>
                <a:latin typeface="Rajdhani Medium"/>
                <a:ea typeface="Rajdhani Medium"/>
                <a:cs typeface="Rajdhani Medium"/>
                <a:sym typeface="Rajdhani Medium"/>
              </a:rPr>
              <a:t>{ </a:t>
            </a:r>
            <a:r>
              <a:rPr b="1" lang="en-US" sz="5800">
                <a:latin typeface="Rajdhani"/>
                <a:ea typeface="Rajdhani"/>
                <a:cs typeface="Rajdhani"/>
                <a:sym typeface="Rajdhani"/>
              </a:rPr>
              <a:t>Coding Sessions</a:t>
            </a:r>
            <a:r>
              <a:rPr lang="en-US" sz="5800">
                <a:solidFill>
                  <a:srgbClr val="1155CC"/>
                </a:solidFill>
                <a:latin typeface="Rajdhani Medium"/>
                <a:ea typeface="Rajdhani Medium"/>
                <a:cs typeface="Rajdhani Medium"/>
                <a:sym typeface="Rajdhani Medium"/>
              </a:rPr>
              <a:t> </a:t>
            </a:r>
            <a:r>
              <a:rPr lang="en-US" sz="5800">
                <a:solidFill>
                  <a:srgbClr val="FF9900"/>
                </a:solidFill>
                <a:latin typeface="Rajdhani Medium"/>
                <a:ea typeface="Rajdhani Medium"/>
                <a:cs typeface="Rajdhani Medium"/>
                <a:sym typeface="Rajdhani Medium"/>
              </a:rPr>
              <a:t>}</a:t>
            </a:r>
            <a:endParaRPr b="1" sz="11000">
              <a:solidFill>
                <a:schemeClr val="dk1"/>
              </a:solidFill>
            </a:endParaRPr>
          </a:p>
        </p:txBody>
      </p:sp>
      <p:sp>
        <p:nvSpPr>
          <p:cNvPr id="44" name="Google Shape;44;p5"/>
          <p:cNvSpPr txBox="1"/>
          <p:nvPr/>
        </p:nvSpPr>
        <p:spPr>
          <a:xfrm>
            <a:off x="1542594" y="5681750"/>
            <a:ext cx="17862300" cy="9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5000">
                <a:solidFill>
                  <a:schemeClr val="dk1"/>
                </a:solidFill>
                <a:latin typeface="Rajdhani Medium"/>
                <a:ea typeface="Rajdhani Medium"/>
                <a:cs typeface="Rajdhani Medium"/>
                <a:sym typeface="Rajdhani Medium"/>
              </a:rPr>
              <a:t>logged from 6/16/2025 - 4/13/2026 at</a:t>
            </a:r>
            <a:endParaRPr sz="5000">
              <a:solidFill>
                <a:schemeClr val="dk1"/>
              </a:solidFill>
              <a:latin typeface="Rajdhani Medium"/>
              <a:ea typeface="Rajdhani Medium"/>
              <a:cs typeface="Rajdhani Medium"/>
              <a:sym typeface="Rajdhani Medium"/>
            </a:endParaRPr>
          </a:p>
        </p:txBody>
      </p:sp>
      <p:sp>
        <p:nvSpPr>
          <p:cNvPr id="45" name="Google Shape;45;p5"/>
          <p:cNvSpPr txBox="1"/>
          <p:nvPr/>
        </p:nvSpPr>
        <p:spPr>
          <a:xfrm>
            <a:off x="1542594" y="6644775"/>
            <a:ext cx="17862300" cy="71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900">
                <a:solidFill>
                  <a:srgbClr val="1155CC"/>
                </a:solidFill>
                <a:latin typeface="Inter SemiBold"/>
                <a:ea typeface="Inter SemiBold"/>
                <a:cs typeface="Inter SemiBold"/>
                <a:sym typeface="Inter SemiBold"/>
              </a:rPr>
              <a:t>Colegio de la Immaculada Concepcion - Gorordo</a:t>
            </a:r>
            <a:endParaRPr sz="1900">
              <a:solidFill>
                <a:srgbClr val="1155CC"/>
              </a:solidFill>
              <a:latin typeface="Inter SemiBold"/>
              <a:ea typeface="Inter SemiBold"/>
              <a:cs typeface="Inter SemiBold"/>
              <a:sym typeface="Inter SemiBold"/>
            </a:endParaRPr>
          </a:p>
        </p:txBody>
      </p:sp>
      <p:sp>
        <p:nvSpPr>
          <p:cNvPr id="46" name="Google Shape;46;p5"/>
          <p:cNvSpPr txBox="1"/>
          <p:nvPr/>
        </p:nvSpPr>
        <p:spPr>
          <a:xfrm>
            <a:off x="1542594" y="8028350"/>
            <a:ext cx="16468500" cy="71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3100">
                <a:solidFill>
                  <a:schemeClr val="dk1"/>
                </a:solidFill>
                <a:latin typeface="Rajdhani"/>
                <a:ea typeface="Rajdhani"/>
                <a:cs typeface="Rajdhani"/>
                <a:sym typeface="Rajdhani"/>
              </a:rPr>
              <a:t>From curiosity to creation — a year of coding innovation.</a:t>
            </a:r>
            <a:r>
              <a:rPr b="1" i="1" lang="en-US" sz="3100">
                <a:solidFill>
                  <a:schemeClr val="dk1"/>
                </a:solidFill>
                <a:latin typeface="Rajdhani"/>
                <a:ea typeface="Rajdhani"/>
                <a:cs typeface="Rajdhani"/>
                <a:sym typeface="Rajdhani"/>
              </a:rPr>
              <a:t> </a:t>
            </a:r>
            <a:endParaRPr b="1" i="1" sz="3100">
              <a:solidFill>
                <a:schemeClr val="dk1"/>
              </a:solidFill>
              <a:latin typeface="Rajdhani"/>
              <a:ea typeface="Rajdhani"/>
              <a:cs typeface="Rajdhani"/>
              <a:sym typeface="Rajdhani"/>
            </a:endParaRPr>
          </a:p>
        </p:txBody>
      </p:sp>
      <p:sp>
        <p:nvSpPr>
          <p:cNvPr id="47" name="Google Shape;47;p5"/>
          <p:cNvSpPr txBox="1"/>
          <p:nvPr/>
        </p:nvSpPr>
        <p:spPr>
          <a:xfrm>
            <a:off x="0" y="9545325"/>
            <a:ext cx="18288000" cy="71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 2025 by The Digital Innovation Department, PPH Digital Media Production Inc.. All Rights Reserved. No part of this document may be reproduced in any form or by any means without written permission from the authors and the publisher.</a:t>
            </a:r>
            <a:endParaRPr sz="1200">
              <a:latin typeface="Lato"/>
              <a:ea typeface="Lato"/>
              <a:cs typeface="Lato"/>
              <a:sym typeface="Lato"/>
            </a:endParaRPr>
          </a:p>
          <a:p>
            <a:pPr indent="0" lvl="0" marL="0" rtl="0" algn="l">
              <a:spcBef>
                <a:spcPts val="0"/>
              </a:spcBef>
              <a:spcAft>
                <a:spcPts val="0"/>
              </a:spcAft>
              <a:buNone/>
            </a:pPr>
            <a:r>
              <a:t/>
            </a:r>
            <a:endParaRPr sz="2000">
              <a:solidFill>
                <a:schemeClr val="dk1"/>
              </a:solidFill>
              <a:latin typeface="Lato"/>
              <a:ea typeface="Lato"/>
              <a:cs typeface="Lato"/>
              <a:sym typeface="Lato"/>
            </a:endParaRPr>
          </a:p>
        </p:txBody>
      </p:sp>
      <p:pic>
        <p:nvPicPr>
          <p:cNvPr id="48" name="Google Shape;48;p5"/>
          <p:cNvPicPr preferRelativeResize="0"/>
          <p:nvPr/>
        </p:nvPicPr>
        <p:blipFill>
          <a:blip r:embed="rId3">
            <a:alphaModFix/>
          </a:blip>
          <a:stretch>
            <a:fillRect/>
          </a:stretch>
        </p:blipFill>
        <p:spPr>
          <a:xfrm>
            <a:off x="10760573" y="369550"/>
            <a:ext cx="7527425" cy="100365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6"/>
          <p:cNvSpPr txBox="1"/>
          <p:nvPr/>
        </p:nvSpPr>
        <p:spPr>
          <a:xfrm>
            <a:off x="1131450" y="3366650"/>
            <a:ext cx="8075400" cy="4359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2400">
                <a:solidFill>
                  <a:schemeClr val="dk1"/>
                </a:solidFill>
                <a:latin typeface="Lato"/>
                <a:ea typeface="Lato"/>
                <a:cs typeface="Lato"/>
                <a:sym typeface="Lato"/>
              </a:rPr>
              <a:t>The Aralinks Coding Education (ACE) Program continued to support innovative learning at </a:t>
            </a:r>
            <a:r>
              <a:rPr b="1" lang="en-US" sz="2400">
                <a:solidFill>
                  <a:srgbClr val="1155CC"/>
                </a:solidFill>
                <a:latin typeface="Lato"/>
                <a:ea typeface="Lato"/>
                <a:cs typeface="Lato"/>
                <a:sym typeface="Lato"/>
              </a:rPr>
              <a:t>Colegio de la Immaculada Concepcion - Gorordo</a:t>
            </a:r>
            <a:r>
              <a:rPr lang="en-US" sz="2400">
                <a:solidFill>
                  <a:schemeClr val="dk1"/>
                </a:solidFill>
                <a:latin typeface="Lato"/>
                <a:ea typeface="Lato"/>
                <a:cs typeface="Lato"/>
                <a:sym typeface="Lato"/>
              </a:rPr>
              <a:t> throughout school year 2025 - 2026.  </a:t>
            </a:r>
            <a:endParaRPr sz="2400">
              <a:solidFill>
                <a:schemeClr val="dk1"/>
              </a:solidFill>
              <a:latin typeface="Lato"/>
              <a:ea typeface="Lato"/>
              <a:cs typeface="Lato"/>
              <a:sym typeface="Lato"/>
            </a:endParaRPr>
          </a:p>
          <a:p>
            <a:pPr indent="0" lvl="0" marL="0" rtl="0" algn="l">
              <a:lnSpc>
                <a:spcPct val="120000"/>
              </a:lnSpc>
              <a:spcBef>
                <a:spcPts val="150"/>
              </a:spcBef>
              <a:spcAft>
                <a:spcPts val="0"/>
              </a:spcAft>
              <a:buNone/>
            </a:pPr>
            <a:r>
              <a:t/>
            </a:r>
            <a:endParaRPr sz="2400">
              <a:solidFill>
                <a:schemeClr val="dk1"/>
              </a:solidFill>
              <a:latin typeface="Lato"/>
              <a:ea typeface="Lato"/>
              <a:cs typeface="Lato"/>
              <a:sym typeface="Lato"/>
            </a:endParaRPr>
          </a:p>
          <a:p>
            <a:pPr indent="0" lvl="0" marL="0" rtl="0" algn="l">
              <a:lnSpc>
                <a:spcPct val="120000"/>
              </a:lnSpc>
              <a:spcBef>
                <a:spcPts val="150"/>
              </a:spcBef>
              <a:spcAft>
                <a:spcPts val="150"/>
              </a:spcAft>
              <a:buNone/>
            </a:pPr>
            <a:r>
              <a:rPr lang="en-US" sz="2400">
                <a:solidFill>
                  <a:schemeClr val="dk1"/>
                </a:solidFill>
                <a:latin typeface="Lato"/>
                <a:ea typeface="Lato"/>
                <a:cs typeface="Lato"/>
                <a:sym typeface="Lato"/>
              </a:rPr>
              <a:t>Students engaged in hands-on coding experiences that fostered creativity, problem-solving, and collaboration. These activities enabled learners to progress from foundational coding exercises to creating meaningful computational projects.</a:t>
            </a:r>
            <a:endParaRPr sz="2400">
              <a:solidFill>
                <a:schemeClr val="dk1"/>
              </a:solidFill>
              <a:latin typeface="Lato"/>
              <a:ea typeface="Lato"/>
              <a:cs typeface="Lato"/>
              <a:sym typeface="Lato"/>
            </a:endParaRPr>
          </a:p>
        </p:txBody>
      </p:sp>
      <p:pic>
        <p:nvPicPr>
          <p:cNvPr id="54" name="Google Shape;54;p6"/>
          <p:cNvPicPr preferRelativeResize="0"/>
          <p:nvPr/>
        </p:nvPicPr>
        <p:blipFill>
          <a:blip r:embed="rId3">
            <a:alphaModFix/>
          </a:blip>
          <a:stretch>
            <a:fillRect/>
          </a:stretch>
        </p:blipFill>
        <p:spPr>
          <a:xfrm>
            <a:off x="9431525" y="2532342"/>
            <a:ext cx="6871249" cy="5605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7"/>
          <p:cNvSpPr txBox="1"/>
          <p:nvPr/>
        </p:nvSpPr>
        <p:spPr>
          <a:xfrm>
            <a:off x="6942150" y="1983075"/>
            <a:ext cx="10354500" cy="14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Lexend"/>
                <a:ea typeface="Lexend"/>
                <a:cs typeface="Lexend"/>
                <a:sym typeface="Lexend"/>
              </a:rPr>
              <a:t>The ACE program empowers learners by integrating technology and computational thinking into core subjects. </a:t>
            </a:r>
            <a:endParaRPr sz="2400">
              <a:solidFill>
                <a:schemeClr val="dk1"/>
              </a:solidFill>
              <a:latin typeface="Lexend"/>
              <a:ea typeface="Lexend"/>
              <a:cs typeface="Lexend"/>
              <a:sym typeface="Lexend"/>
            </a:endParaRPr>
          </a:p>
          <a:p>
            <a:pPr indent="0" lvl="0" marL="0" rtl="0" algn="l">
              <a:spcBef>
                <a:spcPts val="0"/>
              </a:spcBef>
              <a:spcAft>
                <a:spcPts val="0"/>
              </a:spcAft>
              <a:buNone/>
            </a:pPr>
            <a:r>
              <a:t/>
            </a:r>
            <a:endParaRPr sz="2400">
              <a:solidFill>
                <a:schemeClr val="dk1"/>
              </a:solidFill>
              <a:latin typeface="Lexend"/>
              <a:ea typeface="Lexend"/>
              <a:cs typeface="Lexend"/>
              <a:sym typeface="Lexend"/>
            </a:endParaRPr>
          </a:p>
          <a:p>
            <a:pPr indent="0" lvl="0" marL="0" rtl="0" algn="l">
              <a:spcBef>
                <a:spcPts val="0"/>
              </a:spcBef>
              <a:spcAft>
                <a:spcPts val="0"/>
              </a:spcAft>
              <a:buNone/>
            </a:pPr>
            <a:r>
              <a:rPr lang="en-US" sz="2400">
                <a:solidFill>
                  <a:schemeClr val="dk1"/>
                </a:solidFill>
                <a:latin typeface="Lexend"/>
                <a:ea typeface="Lexend"/>
                <a:cs typeface="Lexend"/>
                <a:sym typeface="Lexend"/>
              </a:rPr>
              <a:t>Here’s a quick overview of the </a:t>
            </a:r>
            <a:r>
              <a:rPr b="1" lang="en-US" sz="2400">
                <a:solidFill>
                  <a:srgbClr val="1155CC"/>
                </a:solidFill>
                <a:latin typeface="Lexend"/>
                <a:ea typeface="Lexend"/>
                <a:cs typeface="Lexend"/>
                <a:sym typeface="Lexend"/>
              </a:rPr>
              <a:t>Colegio de la Immaculada Concepcion - Gorordo</a:t>
            </a:r>
            <a:r>
              <a:rPr lang="en-US" sz="2400">
                <a:solidFill>
                  <a:schemeClr val="dk1"/>
                </a:solidFill>
                <a:latin typeface="Lexend"/>
                <a:ea typeface="Lexend"/>
                <a:cs typeface="Lexend"/>
                <a:sym typeface="Lexend"/>
              </a:rPr>
              <a:t>  implementation setup: </a:t>
            </a:r>
            <a:endParaRPr sz="2400">
              <a:solidFill>
                <a:schemeClr val="dk1"/>
              </a:solidFill>
              <a:latin typeface="Lexend"/>
              <a:ea typeface="Lexend"/>
              <a:cs typeface="Lexend"/>
              <a:sym typeface="Lexend"/>
            </a:endParaRPr>
          </a:p>
        </p:txBody>
      </p:sp>
      <p:graphicFrame>
        <p:nvGraphicFramePr>
          <p:cNvPr id="60" name="Google Shape;60;p7"/>
          <p:cNvGraphicFramePr/>
          <p:nvPr/>
        </p:nvGraphicFramePr>
        <p:xfrm>
          <a:off x="6942125" y="4271602"/>
          <a:ext cx="3000000" cy="3000000"/>
        </p:xfrm>
        <a:graphic>
          <a:graphicData uri="http://schemas.openxmlformats.org/drawingml/2006/table">
            <a:tbl>
              <a:tblPr>
                <a:noFill/>
                <a:tableStyleId>{9FE652FB-8780-4064-A4DD-53245AC6C69B}</a:tableStyleId>
              </a:tblPr>
              <a:tblGrid>
                <a:gridCol w="3388025"/>
                <a:gridCol w="6966525"/>
              </a:tblGrid>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Grade Levels: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1 - 12</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Adoption Year: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2025</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None/>
                      </a:pPr>
                      <a:r>
                        <a:rPr lang="en-US" sz="2400">
                          <a:solidFill>
                            <a:schemeClr val="dk1"/>
                          </a:solidFill>
                          <a:latin typeface="Rajdhani"/>
                          <a:ea typeface="Rajdhani"/>
                          <a:cs typeface="Rajdhani"/>
                          <a:sym typeface="Rajdhani"/>
                        </a:rPr>
                        <a:t>Adoption Type:</a:t>
                      </a:r>
                      <a:endParaRPr sz="2400">
                        <a:solidFill>
                          <a:schemeClr val="dk1"/>
                        </a:solidFill>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Both Software &amp; Hardware</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Implementation Year: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1st</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Implementation Setup: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10 Makey-Makey</a:t>
                      </a:r>
                      <a:endParaRPr b="1" sz="2400">
                        <a:latin typeface="Rajdhani"/>
                        <a:ea typeface="Rajdhani"/>
                        <a:cs typeface="Rajdhani"/>
                        <a:sym typeface="Rajdhani"/>
                      </a:endParaRPr>
                    </a:p>
                    <a:p>
                      <a:pPr indent="0" lvl="0" marL="0" rtl="0" algn="l">
                        <a:spcBef>
                          <a:spcPts val="0"/>
                        </a:spcBef>
                        <a:spcAft>
                          <a:spcPts val="0"/>
                        </a:spcAft>
                        <a:buNone/>
                      </a:pPr>
                      <a:r>
                        <a:rPr b="1" lang="en-US" sz="2400">
                          <a:latin typeface="Rajdhani"/>
                          <a:ea typeface="Rajdhani"/>
                          <a:cs typeface="Rajdhani"/>
                          <a:sym typeface="Rajdhani"/>
                        </a:rPr>
                        <a:t>10 Microbit v.2</a:t>
                      </a:r>
                      <a:endParaRPr b="1" sz="2400">
                        <a:latin typeface="Rajdhani"/>
                        <a:ea typeface="Rajdhani"/>
                        <a:cs typeface="Rajdhani"/>
                        <a:sym typeface="Rajdhani"/>
                      </a:endParaRPr>
                    </a:p>
                    <a:p>
                      <a:pPr indent="0" lvl="0" marL="0" rtl="0" algn="l">
                        <a:spcBef>
                          <a:spcPts val="0"/>
                        </a:spcBef>
                        <a:spcAft>
                          <a:spcPts val="0"/>
                        </a:spcAft>
                        <a:buNone/>
                      </a:pPr>
                      <a:r>
                        <a:rPr b="1" lang="en-US" sz="2400">
                          <a:latin typeface="Rajdhani"/>
                          <a:ea typeface="Rajdhani"/>
                          <a:cs typeface="Rajdhani"/>
                          <a:sym typeface="Rajdhani"/>
                        </a:rPr>
                        <a:t>10 Arduino Uno Kit</a:t>
                      </a:r>
                      <a:endParaRPr b="1" sz="2400">
                        <a:latin typeface="Rajdhani"/>
                        <a:ea typeface="Rajdhani"/>
                        <a:cs typeface="Rajdhani"/>
                        <a:sym typeface="Rajdhani"/>
                      </a:endParaRPr>
                    </a:p>
                    <a:p>
                      <a:pPr indent="0" lvl="0" marL="0" rtl="0" algn="l">
                        <a:spcBef>
                          <a:spcPts val="0"/>
                        </a:spcBef>
                        <a:spcAft>
                          <a:spcPts val="0"/>
                        </a:spcAft>
                        <a:buNone/>
                      </a:pPr>
                      <a:r>
                        <a:rPr b="1" lang="en-US" sz="2400">
                          <a:latin typeface="Rajdhani"/>
                          <a:ea typeface="Rajdhani"/>
                          <a:cs typeface="Rajdhani"/>
                          <a:sym typeface="Rajdhani"/>
                        </a:rPr>
                        <a:t>20 Raspberry Pi</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Schedule Arrangement: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Fixed Schedule</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chemeClr val="lt1"/>
                      </a:solidFill>
                      <a:prstDash val="dot"/>
                      <a:round/>
                      <a:headEnd len="sm" w="sm" type="none"/>
                      <a:tailEnd len="sm" w="sm" type="none"/>
                    </a:lnB>
                  </a:tcPr>
                </a:tc>
              </a:tr>
            </a:tbl>
          </a:graphicData>
        </a:graphic>
      </p:graphicFrame>
      <p:pic>
        <p:nvPicPr>
          <p:cNvPr id="61" name="Google Shape;61;p7"/>
          <p:cNvPicPr preferRelativeResize="0"/>
          <p:nvPr/>
        </p:nvPicPr>
        <p:blipFill>
          <a:blip r:embed="rId3">
            <a:alphaModFix amt="90000"/>
          </a:blip>
          <a:stretch>
            <a:fillRect/>
          </a:stretch>
        </p:blipFill>
        <p:spPr>
          <a:xfrm>
            <a:off x="759375" y="2986850"/>
            <a:ext cx="5675376" cy="4313299"/>
          </a:xfrm>
          <a:prstGeom prst="rect">
            <a:avLst/>
          </a:prstGeom>
          <a:noFill/>
          <a:ln>
            <a:noFill/>
          </a:ln>
        </p:spPr>
      </p:pic>
      <p:sp>
        <p:nvSpPr>
          <p:cNvPr id="62" name="Google Shape;62;p7"/>
          <p:cNvSpPr txBox="1"/>
          <p:nvPr/>
        </p:nvSpPr>
        <p:spPr>
          <a:xfrm>
            <a:off x="12165500" y="308425"/>
            <a:ext cx="5675400" cy="60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Lato"/>
                <a:ea typeface="Lato"/>
                <a:cs typeface="Lato"/>
                <a:sym typeface="Lato"/>
              </a:rPr>
              <a:t>Implementation Overview</a:t>
            </a:r>
            <a:endParaRPr b="1" sz="2400">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8"/>
          <p:cNvSpPr/>
          <p:nvPr/>
        </p:nvSpPr>
        <p:spPr>
          <a:xfrm>
            <a:off x="4917059" y="3429350"/>
            <a:ext cx="12458700" cy="3454500"/>
          </a:xfrm>
          <a:prstGeom prst="roundRect">
            <a:avLst>
              <a:gd fmla="val 147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8" name="Google Shape;68;p8"/>
          <p:cNvSpPr/>
          <p:nvPr/>
        </p:nvSpPr>
        <p:spPr>
          <a:xfrm>
            <a:off x="922859" y="3429350"/>
            <a:ext cx="3759300" cy="3454500"/>
          </a:xfrm>
          <a:prstGeom prst="roundRect">
            <a:avLst>
              <a:gd fmla="val 147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9" name="Google Shape;69;p8"/>
          <p:cNvSpPr txBox="1"/>
          <p:nvPr/>
        </p:nvSpPr>
        <p:spPr>
          <a:xfrm>
            <a:off x="12753600" y="308425"/>
            <a:ext cx="49248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Lato"/>
                <a:ea typeface="Lato"/>
                <a:cs typeface="Lato"/>
                <a:sym typeface="Lato"/>
              </a:rPr>
              <a:t>The ACE-nnovators at a Glance</a:t>
            </a:r>
            <a:endParaRPr b="1" sz="2400">
              <a:solidFill>
                <a:schemeClr val="dk1"/>
              </a:solidFill>
              <a:latin typeface="Lato"/>
              <a:ea typeface="Lato"/>
              <a:cs typeface="Lato"/>
              <a:sym typeface="Lato"/>
            </a:endParaRPr>
          </a:p>
        </p:txBody>
      </p:sp>
      <p:grpSp>
        <p:nvGrpSpPr>
          <p:cNvPr id="70" name="Google Shape;70;p8"/>
          <p:cNvGrpSpPr/>
          <p:nvPr/>
        </p:nvGrpSpPr>
        <p:grpSpPr>
          <a:xfrm>
            <a:off x="2615041" y="4056149"/>
            <a:ext cx="1884079" cy="2252410"/>
            <a:chOff x="1312175" y="3727801"/>
            <a:chExt cx="2185200" cy="2612399"/>
          </a:xfrm>
        </p:grpSpPr>
        <p:pic>
          <p:nvPicPr>
            <p:cNvPr id="71" name="Google Shape;71;p8"/>
            <p:cNvPicPr preferRelativeResize="0"/>
            <p:nvPr/>
          </p:nvPicPr>
          <p:blipFill>
            <a:blip r:embed="rId3">
              <a:alphaModFix/>
            </a:blip>
            <a:stretch>
              <a:fillRect/>
            </a:stretch>
          </p:blipFill>
          <p:spPr>
            <a:xfrm>
              <a:off x="1590425" y="3727801"/>
              <a:ext cx="1676719" cy="1676700"/>
            </a:xfrm>
            <a:prstGeom prst="rect">
              <a:avLst/>
            </a:prstGeom>
            <a:noFill/>
            <a:ln>
              <a:noFill/>
            </a:ln>
          </p:spPr>
        </p:pic>
        <p:sp>
          <p:nvSpPr>
            <p:cNvPr id="72" name="Google Shape;72;p8"/>
            <p:cNvSpPr txBox="1"/>
            <p:nvPr/>
          </p:nvSpPr>
          <p:spPr>
            <a:xfrm>
              <a:off x="1312175" y="5404500"/>
              <a:ext cx="2185200" cy="935700"/>
            </a:xfrm>
            <a:prstGeom prst="rect">
              <a:avLst/>
            </a:prstGeom>
            <a:noFill/>
            <a:ln>
              <a:noFill/>
            </a:ln>
          </p:spPr>
          <p:txBody>
            <a:bodyPr anchorCtr="0" anchor="t" bIns="78825" lIns="78825" spcFirstLastPara="1" rIns="78825" wrap="square" tIns="78825">
              <a:noAutofit/>
            </a:bodyPr>
            <a:lstStyle/>
            <a:p>
              <a:pPr indent="0" lvl="0" marL="0" rtl="0" algn="ctr">
                <a:spcBef>
                  <a:spcPts val="0"/>
                </a:spcBef>
                <a:spcAft>
                  <a:spcPts val="0"/>
                </a:spcAft>
                <a:buNone/>
              </a:pPr>
              <a:r>
                <a:rPr b="1" lang="en-US" sz="2069">
                  <a:solidFill>
                    <a:schemeClr val="dk1"/>
                  </a:solidFill>
                  <a:latin typeface="Rajdhani"/>
                  <a:ea typeface="Rajdhani"/>
                  <a:cs typeface="Rajdhani"/>
                  <a:sym typeface="Rajdhani"/>
                </a:rPr>
                <a:t>Participating Teachers</a:t>
              </a:r>
              <a:endParaRPr b="1" sz="2069">
                <a:solidFill>
                  <a:schemeClr val="dk1"/>
                </a:solidFill>
                <a:latin typeface="Rajdhani"/>
                <a:ea typeface="Rajdhani"/>
                <a:cs typeface="Rajdhani"/>
                <a:sym typeface="Rajdhani"/>
              </a:endParaRPr>
            </a:p>
          </p:txBody>
        </p:sp>
      </p:grpSp>
      <p:sp>
        <p:nvSpPr>
          <p:cNvPr id="73" name="Google Shape;73;p8"/>
          <p:cNvSpPr txBox="1"/>
          <p:nvPr/>
        </p:nvSpPr>
        <p:spPr>
          <a:xfrm>
            <a:off x="648071" y="4447563"/>
            <a:ext cx="2262000" cy="167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7000">
                <a:solidFill>
                  <a:schemeClr val="dk1"/>
                </a:solidFill>
                <a:latin typeface="Rajdhani"/>
                <a:ea typeface="Rajdhani"/>
                <a:cs typeface="Rajdhani"/>
                <a:sym typeface="Rajdhani"/>
              </a:rPr>
              <a:t>61</a:t>
            </a:r>
            <a:endParaRPr b="1" sz="7000">
              <a:solidFill>
                <a:schemeClr val="dk1"/>
              </a:solidFill>
              <a:latin typeface="Rajdhani"/>
              <a:ea typeface="Rajdhani"/>
              <a:cs typeface="Rajdhani"/>
              <a:sym typeface="Rajdhani"/>
            </a:endParaRPr>
          </a:p>
          <a:p>
            <a:pPr indent="0" lvl="0" marL="0" rtl="0" algn="ctr">
              <a:spcBef>
                <a:spcPts val="0"/>
              </a:spcBef>
              <a:spcAft>
                <a:spcPts val="0"/>
              </a:spcAft>
              <a:buNone/>
            </a:pPr>
            <a:r>
              <a:t/>
            </a:r>
            <a:endParaRPr b="1" sz="7000">
              <a:solidFill>
                <a:schemeClr val="dk1"/>
              </a:solidFill>
              <a:latin typeface="Rajdhani"/>
              <a:ea typeface="Rajdhani"/>
              <a:cs typeface="Rajdhani"/>
              <a:sym typeface="Rajdhani"/>
            </a:endParaRPr>
          </a:p>
        </p:txBody>
      </p:sp>
      <p:grpSp>
        <p:nvGrpSpPr>
          <p:cNvPr id="74" name="Google Shape;74;p8"/>
          <p:cNvGrpSpPr/>
          <p:nvPr/>
        </p:nvGrpSpPr>
        <p:grpSpPr>
          <a:xfrm>
            <a:off x="15203909" y="3717227"/>
            <a:ext cx="2074200" cy="2759236"/>
            <a:chOff x="5203825" y="3733427"/>
            <a:chExt cx="2074200" cy="2759236"/>
          </a:xfrm>
        </p:grpSpPr>
        <p:pic>
          <p:nvPicPr>
            <p:cNvPr id="75" name="Google Shape;75;p8"/>
            <p:cNvPicPr preferRelativeResize="0"/>
            <p:nvPr/>
          </p:nvPicPr>
          <p:blipFill>
            <a:blip r:embed="rId4">
              <a:alphaModFix/>
            </a:blip>
            <a:stretch>
              <a:fillRect/>
            </a:stretch>
          </p:blipFill>
          <p:spPr>
            <a:xfrm>
              <a:off x="5588285" y="5187383"/>
              <a:ext cx="1305280" cy="1305280"/>
            </a:xfrm>
            <a:prstGeom prst="rect">
              <a:avLst/>
            </a:prstGeom>
            <a:noFill/>
            <a:ln>
              <a:noFill/>
            </a:ln>
          </p:spPr>
        </p:pic>
        <p:pic>
          <p:nvPicPr>
            <p:cNvPr id="76" name="Google Shape;76;p8"/>
            <p:cNvPicPr preferRelativeResize="0"/>
            <p:nvPr/>
          </p:nvPicPr>
          <p:blipFill>
            <a:blip r:embed="rId5">
              <a:alphaModFix/>
            </a:blip>
            <a:stretch>
              <a:fillRect/>
            </a:stretch>
          </p:blipFill>
          <p:spPr>
            <a:xfrm flipH="1">
              <a:off x="5588285" y="3733427"/>
              <a:ext cx="1305280" cy="1305280"/>
            </a:xfrm>
            <a:prstGeom prst="rect">
              <a:avLst/>
            </a:prstGeom>
            <a:noFill/>
            <a:ln>
              <a:noFill/>
            </a:ln>
          </p:spPr>
        </p:pic>
        <p:sp>
          <p:nvSpPr>
            <p:cNvPr id="77" name="Google Shape;77;p8"/>
            <p:cNvSpPr txBox="1"/>
            <p:nvPr/>
          </p:nvSpPr>
          <p:spPr>
            <a:xfrm>
              <a:off x="5203825" y="4909345"/>
              <a:ext cx="2074200" cy="407400"/>
            </a:xfrm>
            <a:prstGeom prst="rect">
              <a:avLst/>
            </a:prstGeom>
            <a:noFill/>
            <a:ln>
              <a:noFill/>
            </a:ln>
          </p:spPr>
          <p:txBody>
            <a:bodyPr anchorCtr="0" anchor="t" bIns="63050" lIns="63050" spcFirstLastPara="1" rIns="63050" wrap="square" tIns="63050">
              <a:noAutofit/>
            </a:bodyPr>
            <a:lstStyle/>
            <a:p>
              <a:pPr indent="0" lvl="0" marL="0" rtl="0" algn="ctr">
                <a:spcBef>
                  <a:spcPts val="0"/>
                </a:spcBef>
                <a:spcAft>
                  <a:spcPts val="0"/>
                </a:spcAft>
                <a:buNone/>
              </a:pPr>
              <a:r>
                <a:rPr b="1" lang="en-US" sz="2055">
                  <a:solidFill>
                    <a:schemeClr val="dk1"/>
                  </a:solidFill>
                  <a:latin typeface="Rajdhani"/>
                  <a:ea typeface="Rajdhani"/>
                  <a:cs typeface="Rajdhani"/>
                  <a:sym typeface="Rajdhani"/>
                </a:rPr>
                <a:t>Student Coders</a:t>
              </a:r>
              <a:endParaRPr b="1" sz="2055">
                <a:solidFill>
                  <a:schemeClr val="dk1"/>
                </a:solidFill>
                <a:latin typeface="Rajdhani"/>
                <a:ea typeface="Rajdhani"/>
                <a:cs typeface="Rajdhani"/>
                <a:sym typeface="Rajdhani"/>
              </a:endParaRPr>
            </a:p>
          </p:txBody>
        </p:sp>
      </p:grpSp>
      <p:grpSp>
        <p:nvGrpSpPr>
          <p:cNvPr id="78" name="Google Shape;78;p8"/>
          <p:cNvGrpSpPr/>
          <p:nvPr/>
        </p:nvGrpSpPr>
        <p:grpSpPr>
          <a:xfrm>
            <a:off x="5264084" y="4060125"/>
            <a:ext cx="2286000" cy="544050"/>
            <a:chOff x="7322650" y="3717225"/>
            <a:chExt cx="2286000" cy="544050"/>
          </a:xfrm>
        </p:grpSpPr>
        <p:sp>
          <p:nvSpPr>
            <p:cNvPr id="79" name="Google Shape;79;p8"/>
            <p:cNvSpPr/>
            <p:nvPr/>
          </p:nvSpPr>
          <p:spPr>
            <a:xfrm>
              <a:off x="7322650" y="3717375"/>
              <a:ext cx="2286000" cy="543900"/>
            </a:xfrm>
            <a:prstGeom prst="rect">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0" name="Google Shape;80;p8"/>
            <p:cNvSpPr txBox="1"/>
            <p:nvPr/>
          </p:nvSpPr>
          <p:spPr>
            <a:xfrm>
              <a:off x="7322650" y="3717225"/>
              <a:ext cx="2286000" cy="54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Grade School</a:t>
              </a:r>
              <a:endParaRPr b="1" sz="2400">
                <a:solidFill>
                  <a:schemeClr val="lt1"/>
                </a:solidFill>
                <a:latin typeface="Rajdhani"/>
                <a:ea typeface="Rajdhani"/>
                <a:cs typeface="Rajdhani"/>
                <a:sym typeface="Rajdhani"/>
              </a:endParaRPr>
            </a:p>
          </p:txBody>
        </p:sp>
      </p:grpSp>
      <p:sp>
        <p:nvSpPr>
          <p:cNvPr id="81" name="Google Shape;81;p8"/>
          <p:cNvSpPr txBox="1"/>
          <p:nvPr/>
        </p:nvSpPr>
        <p:spPr>
          <a:xfrm>
            <a:off x="7820934" y="4060200"/>
            <a:ext cx="2286000" cy="543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Junior HS</a:t>
            </a:r>
            <a:endParaRPr b="1" sz="2400">
              <a:solidFill>
                <a:schemeClr val="lt1"/>
              </a:solidFill>
              <a:latin typeface="Rajdhani"/>
              <a:ea typeface="Rajdhani"/>
              <a:cs typeface="Rajdhani"/>
              <a:sym typeface="Rajdhani"/>
            </a:endParaRPr>
          </a:p>
        </p:txBody>
      </p:sp>
      <p:sp>
        <p:nvSpPr>
          <p:cNvPr id="82" name="Google Shape;82;p8"/>
          <p:cNvSpPr txBox="1"/>
          <p:nvPr/>
        </p:nvSpPr>
        <p:spPr>
          <a:xfrm>
            <a:off x="10406846" y="4060275"/>
            <a:ext cx="2286000" cy="543900"/>
          </a:xfrm>
          <a:prstGeom prst="rect">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Senior HS</a:t>
            </a:r>
            <a:endParaRPr b="1" sz="2400">
              <a:solidFill>
                <a:schemeClr val="lt1"/>
              </a:solidFill>
              <a:latin typeface="Rajdhani"/>
              <a:ea typeface="Rajdhani"/>
              <a:cs typeface="Rajdhani"/>
              <a:sym typeface="Rajdhani"/>
            </a:endParaRPr>
          </a:p>
        </p:txBody>
      </p:sp>
      <p:sp>
        <p:nvSpPr>
          <p:cNvPr id="83" name="Google Shape;83;p8"/>
          <p:cNvSpPr txBox="1"/>
          <p:nvPr/>
        </p:nvSpPr>
        <p:spPr>
          <a:xfrm>
            <a:off x="12978246" y="4060275"/>
            <a:ext cx="2286000" cy="543900"/>
          </a:xfrm>
          <a:prstGeom prst="rect">
            <a:avLst/>
          </a:prstGeom>
          <a:solidFill>
            <a:srgbClr val="ED7D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TOTAL</a:t>
            </a:r>
            <a:endParaRPr b="1" sz="2400">
              <a:solidFill>
                <a:schemeClr val="lt1"/>
              </a:solidFill>
              <a:latin typeface="Rajdhani"/>
              <a:ea typeface="Rajdhani"/>
              <a:cs typeface="Rajdhani"/>
              <a:sym typeface="Rajdhani"/>
            </a:endParaRPr>
          </a:p>
        </p:txBody>
      </p:sp>
      <p:grpSp>
        <p:nvGrpSpPr>
          <p:cNvPr id="84" name="Google Shape;84;p8"/>
          <p:cNvGrpSpPr/>
          <p:nvPr/>
        </p:nvGrpSpPr>
        <p:grpSpPr>
          <a:xfrm>
            <a:off x="5276059" y="4823400"/>
            <a:ext cx="2274025" cy="1420350"/>
            <a:chOff x="7334625" y="4394775"/>
            <a:chExt cx="2274025" cy="1420350"/>
          </a:xfrm>
        </p:grpSpPr>
        <p:sp>
          <p:nvSpPr>
            <p:cNvPr id="85" name="Google Shape;85;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7000">
                  <a:solidFill>
                    <a:srgbClr val="FF9900"/>
                  </a:solidFill>
                  <a:latin typeface="Rajdhani"/>
                  <a:ea typeface="Rajdhani"/>
                  <a:cs typeface="Rajdhani"/>
                  <a:sym typeface="Rajdhani"/>
                </a:rPr>
                <a:t>486</a:t>
              </a:r>
              <a:endParaRPr b="1" sz="7000">
                <a:solidFill>
                  <a:srgbClr val="FF9900"/>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FF9900"/>
                </a:solidFill>
                <a:latin typeface="Rajdhani"/>
                <a:ea typeface="Rajdhani"/>
                <a:cs typeface="Rajdhani"/>
                <a:sym typeface="Rajdhani"/>
              </a:endParaRPr>
            </a:p>
          </p:txBody>
        </p:sp>
        <p:sp>
          <p:nvSpPr>
            <p:cNvPr id="86" name="Google Shape;86;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None/>
              </a:pPr>
              <a:r>
                <a:rPr b="1" lang="en-US" sz="2400">
                  <a:solidFill>
                    <a:srgbClr val="FF9900"/>
                  </a:solidFill>
                  <a:latin typeface="Rajdhani"/>
                  <a:ea typeface="Rajdhani"/>
                  <a:cs typeface="Rajdhani"/>
                  <a:sym typeface="Rajdhani"/>
                </a:rPr>
                <a:t>12</a:t>
              </a:r>
              <a:r>
                <a:rPr b="1" lang="en-US" sz="2400">
                  <a:solidFill>
                    <a:srgbClr val="FF9900"/>
                  </a:solidFill>
                  <a:latin typeface="Rajdhani"/>
                  <a:ea typeface="Rajdhani"/>
                  <a:cs typeface="Rajdhani"/>
                  <a:sym typeface="Rajdhani"/>
                </a:rPr>
                <a:t> Sections</a:t>
              </a:r>
              <a:endParaRPr b="1" sz="2400">
                <a:solidFill>
                  <a:srgbClr val="FF9900"/>
                </a:solidFill>
                <a:latin typeface="Rajdhani"/>
                <a:ea typeface="Rajdhani"/>
                <a:cs typeface="Rajdhani"/>
                <a:sym typeface="Rajdhani"/>
              </a:endParaRPr>
            </a:p>
          </p:txBody>
        </p:sp>
      </p:grpSp>
      <p:grpSp>
        <p:nvGrpSpPr>
          <p:cNvPr id="87" name="Google Shape;87;p8"/>
          <p:cNvGrpSpPr/>
          <p:nvPr/>
        </p:nvGrpSpPr>
        <p:grpSpPr>
          <a:xfrm>
            <a:off x="7841434" y="4823400"/>
            <a:ext cx="2274025" cy="1420350"/>
            <a:chOff x="7334625" y="4394775"/>
            <a:chExt cx="2274025" cy="1420350"/>
          </a:xfrm>
        </p:grpSpPr>
        <p:sp>
          <p:nvSpPr>
            <p:cNvPr id="88" name="Google Shape;88;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7000">
                  <a:solidFill>
                    <a:srgbClr val="1155CC"/>
                  </a:solidFill>
                  <a:latin typeface="Rajdhani"/>
                  <a:ea typeface="Rajdhani"/>
                  <a:cs typeface="Rajdhani"/>
                  <a:sym typeface="Rajdhani"/>
                </a:rPr>
                <a:t>678</a:t>
              </a:r>
              <a:endParaRPr b="1" sz="7000">
                <a:solidFill>
                  <a:srgbClr val="1155CC"/>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1155CC"/>
                </a:solidFill>
                <a:latin typeface="Rajdhani"/>
                <a:ea typeface="Rajdhani"/>
                <a:cs typeface="Rajdhani"/>
                <a:sym typeface="Rajdhani"/>
              </a:endParaRPr>
            </a:p>
          </p:txBody>
        </p:sp>
        <p:sp>
          <p:nvSpPr>
            <p:cNvPr id="89" name="Google Shape;89;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17</a:t>
              </a:r>
              <a:r>
                <a:rPr b="1" lang="en-US" sz="2400">
                  <a:solidFill>
                    <a:srgbClr val="1155CC"/>
                  </a:solidFill>
                  <a:latin typeface="Rajdhani"/>
                  <a:ea typeface="Rajdhani"/>
                  <a:cs typeface="Rajdhani"/>
                  <a:sym typeface="Rajdhani"/>
                </a:rPr>
                <a:t> Sections</a:t>
              </a:r>
              <a:endParaRPr b="1" sz="2400">
                <a:solidFill>
                  <a:srgbClr val="1155CC"/>
                </a:solidFill>
                <a:latin typeface="Rajdhani"/>
                <a:ea typeface="Rajdhani"/>
                <a:cs typeface="Rajdhani"/>
                <a:sym typeface="Rajdhani"/>
              </a:endParaRPr>
            </a:p>
          </p:txBody>
        </p:sp>
      </p:grpSp>
      <p:grpSp>
        <p:nvGrpSpPr>
          <p:cNvPr id="90" name="Google Shape;90;p8"/>
          <p:cNvGrpSpPr/>
          <p:nvPr/>
        </p:nvGrpSpPr>
        <p:grpSpPr>
          <a:xfrm>
            <a:off x="10412834" y="4794825"/>
            <a:ext cx="2274025" cy="1420350"/>
            <a:chOff x="7334625" y="4394775"/>
            <a:chExt cx="2274025" cy="1420350"/>
          </a:xfrm>
        </p:grpSpPr>
        <p:sp>
          <p:nvSpPr>
            <p:cNvPr id="91" name="Google Shape;91;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7000">
                  <a:solidFill>
                    <a:srgbClr val="1C4587"/>
                  </a:solidFill>
                  <a:latin typeface="Rajdhani"/>
                  <a:ea typeface="Rajdhani"/>
                  <a:cs typeface="Rajdhani"/>
                  <a:sym typeface="Rajdhani"/>
                </a:rPr>
                <a:t>239</a:t>
              </a:r>
              <a:endParaRPr b="1" sz="7000">
                <a:solidFill>
                  <a:srgbClr val="1C4587"/>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1C4587"/>
                </a:solidFill>
                <a:latin typeface="Rajdhani"/>
                <a:ea typeface="Rajdhani"/>
                <a:cs typeface="Rajdhani"/>
                <a:sym typeface="Rajdhani"/>
              </a:endParaRPr>
            </a:p>
          </p:txBody>
        </p:sp>
        <p:sp>
          <p:nvSpPr>
            <p:cNvPr id="92" name="Google Shape;92;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None/>
              </a:pPr>
              <a:r>
                <a:rPr b="1" lang="en-US" sz="2400">
                  <a:solidFill>
                    <a:srgbClr val="1C4587"/>
                  </a:solidFill>
                  <a:latin typeface="Rajdhani"/>
                  <a:ea typeface="Rajdhani"/>
                  <a:cs typeface="Rajdhani"/>
                  <a:sym typeface="Rajdhani"/>
                </a:rPr>
                <a:t>8 Sections</a:t>
              </a:r>
              <a:endParaRPr b="1" sz="2400">
                <a:solidFill>
                  <a:srgbClr val="1C4587"/>
                </a:solidFill>
                <a:latin typeface="Rajdhani"/>
                <a:ea typeface="Rajdhani"/>
                <a:cs typeface="Rajdhani"/>
                <a:sym typeface="Rajdhani"/>
              </a:endParaRPr>
            </a:p>
          </p:txBody>
        </p:sp>
      </p:grpSp>
      <p:grpSp>
        <p:nvGrpSpPr>
          <p:cNvPr id="93" name="Google Shape;93;p8"/>
          <p:cNvGrpSpPr/>
          <p:nvPr/>
        </p:nvGrpSpPr>
        <p:grpSpPr>
          <a:xfrm>
            <a:off x="12978209" y="4794825"/>
            <a:ext cx="2274025" cy="1420350"/>
            <a:chOff x="7334625" y="4394775"/>
            <a:chExt cx="2274025" cy="1420350"/>
          </a:xfrm>
        </p:grpSpPr>
        <p:sp>
          <p:nvSpPr>
            <p:cNvPr id="94" name="Google Shape;94;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US" sz="7000">
                  <a:solidFill>
                    <a:schemeClr val="dk1"/>
                  </a:solidFill>
                  <a:latin typeface="Rajdhani"/>
                  <a:ea typeface="Rajdhani"/>
                  <a:cs typeface="Rajdhani"/>
                  <a:sym typeface="Rajdhani"/>
                </a:rPr>
                <a:t>1403</a:t>
              </a:r>
              <a:endParaRPr b="1" sz="7000">
                <a:solidFill>
                  <a:schemeClr val="dk1"/>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ED7D31"/>
                </a:solidFill>
                <a:latin typeface="Rajdhani"/>
                <a:ea typeface="Rajdhani"/>
                <a:cs typeface="Rajdhani"/>
                <a:sym typeface="Rajdhani"/>
              </a:endParaRPr>
            </a:p>
          </p:txBody>
        </p:sp>
        <p:sp>
          <p:nvSpPr>
            <p:cNvPr id="95" name="Google Shape;95;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Clr>
                  <a:schemeClr val="dk1"/>
                </a:buClr>
                <a:buSzPts val="1100"/>
                <a:buFont typeface="Arial"/>
                <a:buNone/>
              </a:pPr>
              <a:r>
                <a:rPr b="1" lang="en-US" sz="2400">
                  <a:solidFill>
                    <a:srgbClr val="ED7D31"/>
                  </a:solidFill>
                  <a:latin typeface="Rajdhani"/>
                  <a:ea typeface="Rajdhani"/>
                  <a:cs typeface="Rajdhani"/>
                  <a:sym typeface="Rajdhani"/>
                </a:rPr>
                <a:t>37 Sections</a:t>
              </a:r>
              <a:endParaRPr b="1" sz="2400">
                <a:solidFill>
                  <a:srgbClr val="ED7D31"/>
                </a:solidFill>
                <a:latin typeface="Rajdhani"/>
                <a:ea typeface="Rajdhani"/>
                <a:cs typeface="Rajdhani"/>
                <a:sym typeface="Rajdhani"/>
              </a:endParaRPr>
            </a:p>
            <a:p>
              <a:pPr indent="0" lvl="0" marL="0" rtl="0" algn="ctr">
                <a:spcBef>
                  <a:spcPts val="0"/>
                </a:spcBef>
                <a:spcAft>
                  <a:spcPts val="0"/>
                </a:spcAft>
                <a:buNone/>
              </a:pPr>
              <a:r>
                <a:t/>
              </a:r>
              <a:endParaRPr b="1" sz="2400">
                <a:solidFill>
                  <a:srgbClr val="ED7D31"/>
                </a:solidFill>
                <a:latin typeface="Rajdhani"/>
                <a:ea typeface="Rajdhani"/>
                <a:cs typeface="Rajdhani"/>
                <a:sym typeface="Rajdhani"/>
              </a:endParaRPr>
            </a:p>
          </p:txBody>
        </p:sp>
      </p:grpSp>
      <p:sp>
        <p:nvSpPr>
          <p:cNvPr id="96" name="Google Shape;96;p8"/>
          <p:cNvSpPr txBox="1"/>
          <p:nvPr/>
        </p:nvSpPr>
        <p:spPr>
          <a:xfrm>
            <a:off x="922850" y="2017710"/>
            <a:ext cx="164529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Lexend"/>
                <a:ea typeface="Lexend"/>
                <a:cs typeface="Lexend"/>
                <a:sym typeface="Lexend"/>
              </a:rPr>
              <a:t>The success of ACE at </a:t>
            </a:r>
            <a:r>
              <a:rPr b="1" lang="en-US" sz="2400">
                <a:solidFill>
                  <a:srgbClr val="0000FF"/>
                </a:solidFill>
                <a:latin typeface="Lexend"/>
                <a:ea typeface="Lexend"/>
                <a:cs typeface="Lexend"/>
                <a:sym typeface="Lexend"/>
              </a:rPr>
              <a:t>Colegio de la Immaculada Concepcion - Gorordo</a:t>
            </a:r>
            <a:r>
              <a:rPr lang="en-US" sz="2400">
                <a:solidFill>
                  <a:schemeClr val="dk1"/>
                </a:solidFill>
                <a:latin typeface="Lexend"/>
                <a:ea typeface="Lexend"/>
                <a:cs typeface="Lexend"/>
                <a:sym typeface="Lexend"/>
              </a:rPr>
              <a:t> lies in the collective brilliance of its educators and students. </a:t>
            </a:r>
            <a:endParaRPr sz="2400">
              <a:solidFill>
                <a:schemeClr val="dk1"/>
              </a:solidFill>
              <a:latin typeface="Lexend"/>
              <a:ea typeface="Lexend"/>
              <a:cs typeface="Lexend"/>
              <a:sym typeface="Lexend"/>
            </a:endParaRPr>
          </a:p>
        </p:txBody>
      </p:sp>
      <p:sp>
        <p:nvSpPr>
          <p:cNvPr id="97" name="Google Shape;97;p8"/>
          <p:cNvSpPr txBox="1"/>
          <p:nvPr/>
        </p:nvSpPr>
        <p:spPr>
          <a:xfrm>
            <a:off x="922850" y="7465725"/>
            <a:ext cx="16452900" cy="13053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en-US" sz="2400">
                <a:solidFill>
                  <a:schemeClr val="dk1"/>
                </a:solidFill>
                <a:latin typeface="Lexend"/>
                <a:ea typeface="Lexend"/>
                <a:cs typeface="Lexend"/>
                <a:sym typeface="Lexend"/>
              </a:rPr>
              <a:t>The program’s strength is grounded in collaboration: educators who guide with purpose, and learners who code with imagination. Each class becomes a hub of exploration — where logic meets creativity, and learning shifts from passive consumption to active creation. </a:t>
            </a:r>
            <a:endParaRPr sz="2400">
              <a:solidFill>
                <a:schemeClr val="dk1"/>
              </a:solidFill>
              <a:latin typeface="Lexend"/>
              <a:ea typeface="Lexend"/>
              <a:cs typeface="Lexend"/>
              <a:sym typeface="Lexend"/>
            </a:endParaRPr>
          </a:p>
        </p:txBody>
      </p:sp>
      <p:cxnSp>
        <p:nvCxnSpPr>
          <p:cNvPr id="98" name="Google Shape;98;p8"/>
          <p:cNvCxnSpPr/>
          <p:nvPr/>
        </p:nvCxnSpPr>
        <p:spPr>
          <a:xfrm>
            <a:off x="5264084" y="6476475"/>
            <a:ext cx="2286000" cy="0"/>
          </a:xfrm>
          <a:prstGeom prst="straightConnector1">
            <a:avLst/>
          </a:prstGeom>
          <a:noFill/>
          <a:ln cap="flat" cmpd="sng" w="38100">
            <a:solidFill>
              <a:srgbClr val="FF9900"/>
            </a:solidFill>
            <a:prstDash val="solid"/>
            <a:round/>
            <a:headEnd len="med" w="med" type="none"/>
            <a:tailEnd len="med" w="med" type="none"/>
          </a:ln>
        </p:spPr>
      </p:cxnSp>
      <p:cxnSp>
        <p:nvCxnSpPr>
          <p:cNvPr id="99" name="Google Shape;99;p8"/>
          <p:cNvCxnSpPr/>
          <p:nvPr/>
        </p:nvCxnSpPr>
        <p:spPr>
          <a:xfrm>
            <a:off x="7835446" y="6476475"/>
            <a:ext cx="2286000" cy="0"/>
          </a:xfrm>
          <a:prstGeom prst="straightConnector1">
            <a:avLst/>
          </a:prstGeom>
          <a:noFill/>
          <a:ln cap="flat" cmpd="sng" w="38100">
            <a:solidFill>
              <a:srgbClr val="6D9EEB"/>
            </a:solidFill>
            <a:prstDash val="solid"/>
            <a:round/>
            <a:headEnd len="med" w="med" type="none"/>
            <a:tailEnd len="med" w="med" type="none"/>
          </a:ln>
        </p:spPr>
      </p:cxnSp>
      <p:cxnSp>
        <p:nvCxnSpPr>
          <p:cNvPr id="100" name="Google Shape;100;p8"/>
          <p:cNvCxnSpPr/>
          <p:nvPr/>
        </p:nvCxnSpPr>
        <p:spPr>
          <a:xfrm>
            <a:off x="10406859" y="6476475"/>
            <a:ext cx="2286000" cy="0"/>
          </a:xfrm>
          <a:prstGeom prst="straightConnector1">
            <a:avLst/>
          </a:prstGeom>
          <a:noFill/>
          <a:ln cap="flat" cmpd="sng" w="38100">
            <a:solidFill>
              <a:srgbClr val="1155CC"/>
            </a:solidFill>
            <a:prstDash val="solid"/>
            <a:round/>
            <a:headEnd len="med" w="med" type="none"/>
            <a:tailEnd len="med" w="med" type="none"/>
          </a:ln>
        </p:spPr>
      </p:cxnSp>
      <p:cxnSp>
        <p:nvCxnSpPr>
          <p:cNvPr id="101" name="Google Shape;101;p8"/>
          <p:cNvCxnSpPr/>
          <p:nvPr/>
        </p:nvCxnSpPr>
        <p:spPr>
          <a:xfrm>
            <a:off x="12978259" y="6476475"/>
            <a:ext cx="2286000" cy="0"/>
          </a:xfrm>
          <a:prstGeom prst="straightConnector1">
            <a:avLst/>
          </a:prstGeom>
          <a:noFill/>
          <a:ln cap="flat" cmpd="sng" w="38100">
            <a:solidFill>
              <a:srgbClr val="ED7D3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9"/>
          <p:cNvSpPr/>
          <p:nvPr/>
        </p:nvSpPr>
        <p:spPr>
          <a:xfrm>
            <a:off x="866150" y="3536700"/>
            <a:ext cx="3476400" cy="3474600"/>
          </a:xfrm>
          <a:prstGeom prst="roundRect">
            <a:avLst>
              <a:gd fmla="val 4778"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7" name="Google Shape;107;p9"/>
          <p:cNvSpPr/>
          <p:nvPr/>
        </p:nvSpPr>
        <p:spPr>
          <a:xfrm>
            <a:off x="5171450" y="3536700"/>
            <a:ext cx="3476400" cy="3474600"/>
          </a:xfrm>
          <a:prstGeom prst="roundRect">
            <a:avLst>
              <a:gd fmla="val 4778" name="adj"/>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 name="Google Shape;108;p9"/>
          <p:cNvSpPr/>
          <p:nvPr/>
        </p:nvSpPr>
        <p:spPr>
          <a:xfrm>
            <a:off x="9476750" y="3536700"/>
            <a:ext cx="3476400" cy="3474600"/>
          </a:xfrm>
          <a:prstGeom prst="roundRect">
            <a:avLst>
              <a:gd fmla="val 4778"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 name="Google Shape;109;p9"/>
          <p:cNvSpPr/>
          <p:nvPr/>
        </p:nvSpPr>
        <p:spPr>
          <a:xfrm>
            <a:off x="13782050" y="3536700"/>
            <a:ext cx="3476400" cy="3474600"/>
          </a:xfrm>
          <a:prstGeom prst="roundRect">
            <a:avLst>
              <a:gd fmla="val 4778" name="adj"/>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 name="Google Shape;110;p9"/>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Schoolwide</a:t>
            </a:r>
            <a:r>
              <a:rPr b="1" lang="en-US" sz="2400">
                <a:solidFill>
                  <a:schemeClr val="dk1"/>
                </a:solidFill>
                <a:latin typeface="Lato"/>
                <a:ea typeface="Lato"/>
                <a:cs typeface="Lato"/>
                <a:sym typeface="Lato"/>
              </a:rPr>
              <a:t> Coding Engagement - By the Numbers  </a:t>
            </a:r>
            <a:endParaRPr b="1" sz="2400">
              <a:solidFill>
                <a:schemeClr val="dk1"/>
              </a:solidFill>
              <a:latin typeface="Lato"/>
              <a:ea typeface="Lato"/>
              <a:cs typeface="Lato"/>
              <a:sym typeface="Lato"/>
            </a:endParaRPr>
          </a:p>
        </p:txBody>
      </p:sp>
      <p:sp>
        <p:nvSpPr>
          <p:cNvPr id="111" name="Google Shape;111;p9"/>
          <p:cNvSpPr txBox="1"/>
          <p:nvPr/>
        </p:nvSpPr>
        <p:spPr>
          <a:xfrm>
            <a:off x="866175" y="4146900"/>
            <a:ext cx="3476400" cy="199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100">
                <a:solidFill>
                  <a:schemeClr val="lt1"/>
                </a:solidFill>
                <a:latin typeface="Rajdhani"/>
                <a:ea typeface="Rajdhani"/>
                <a:cs typeface="Rajdhani"/>
                <a:sym typeface="Rajdhani"/>
              </a:rPr>
              <a:t>371</a:t>
            </a:r>
            <a:endParaRPr b="1" sz="10100">
              <a:solidFill>
                <a:schemeClr val="lt1"/>
              </a:solidFill>
              <a:latin typeface="Rajdhani"/>
              <a:ea typeface="Rajdhani"/>
              <a:cs typeface="Rajdhani"/>
              <a:sym typeface="Rajdhani"/>
            </a:endParaRPr>
          </a:p>
        </p:txBody>
      </p:sp>
      <p:sp>
        <p:nvSpPr>
          <p:cNvPr id="112" name="Google Shape;112;p9"/>
          <p:cNvSpPr txBox="1"/>
          <p:nvPr/>
        </p:nvSpPr>
        <p:spPr>
          <a:xfrm>
            <a:off x="5124683" y="4146900"/>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chemeClr val="lt1"/>
                </a:solidFill>
                <a:latin typeface="Rajdhani"/>
                <a:ea typeface="Rajdhani"/>
                <a:cs typeface="Rajdhani"/>
                <a:sym typeface="Rajdhani"/>
              </a:rPr>
              <a:t>306</a:t>
            </a:r>
            <a:endParaRPr sz="3100">
              <a:solidFill>
                <a:schemeClr val="lt1"/>
              </a:solidFill>
              <a:latin typeface="Lato"/>
              <a:ea typeface="Lato"/>
              <a:cs typeface="Lato"/>
              <a:sym typeface="Lato"/>
            </a:endParaRPr>
          </a:p>
        </p:txBody>
      </p:sp>
      <p:sp>
        <p:nvSpPr>
          <p:cNvPr id="113" name="Google Shape;113;p9"/>
          <p:cNvSpPr txBox="1"/>
          <p:nvPr/>
        </p:nvSpPr>
        <p:spPr>
          <a:xfrm>
            <a:off x="866150" y="6140100"/>
            <a:ext cx="3476400" cy="38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Lato"/>
                <a:ea typeface="Lato"/>
                <a:cs typeface="Lato"/>
                <a:sym typeface="Lato"/>
              </a:rPr>
              <a:t>* Includes 0 mixed/ancillary sessions</a:t>
            </a:r>
            <a:endParaRPr sz="1200">
              <a:solidFill>
                <a:schemeClr val="lt1"/>
              </a:solidFill>
              <a:latin typeface="Lato"/>
              <a:ea typeface="Lato"/>
              <a:cs typeface="Lato"/>
              <a:sym typeface="Lato"/>
            </a:endParaRPr>
          </a:p>
          <a:p>
            <a:pPr indent="0" lvl="0" marL="0" rtl="0" algn="ctr">
              <a:spcBef>
                <a:spcPts val="0"/>
              </a:spcBef>
              <a:spcAft>
                <a:spcPts val="0"/>
              </a:spcAft>
              <a:buNone/>
            </a:pPr>
            <a:r>
              <a:t/>
            </a:r>
            <a:endParaRPr sz="1200">
              <a:solidFill>
                <a:schemeClr val="lt1"/>
              </a:solidFill>
              <a:latin typeface="Lato"/>
              <a:ea typeface="Lato"/>
              <a:cs typeface="Lato"/>
              <a:sym typeface="Lato"/>
            </a:endParaRPr>
          </a:p>
          <a:p>
            <a:pPr indent="0" lvl="0" marL="0" rtl="0" algn="ctr">
              <a:spcBef>
                <a:spcPts val="0"/>
              </a:spcBef>
              <a:spcAft>
                <a:spcPts val="0"/>
              </a:spcAft>
              <a:buNone/>
            </a:pPr>
            <a:r>
              <a:t/>
            </a:r>
            <a:endParaRPr sz="1200">
              <a:solidFill>
                <a:schemeClr val="lt1"/>
              </a:solidFill>
              <a:latin typeface="Lato"/>
              <a:ea typeface="Lato"/>
              <a:cs typeface="Lato"/>
              <a:sym typeface="Lato"/>
            </a:endParaRPr>
          </a:p>
        </p:txBody>
      </p:sp>
      <p:sp>
        <p:nvSpPr>
          <p:cNvPr id="114" name="Google Shape;114;p9"/>
          <p:cNvSpPr txBox="1"/>
          <p:nvPr/>
        </p:nvSpPr>
        <p:spPr>
          <a:xfrm>
            <a:off x="866175" y="2545800"/>
            <a:ext cx="34764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Coding Sessions Logged</a:t>
            </a:r>
            <a:endParaRPr b="1" sz="2400">
              <a:solidFill>
                <a:srgbClr val="1155CC"/>
              </a:solidFill>
              <a:latin typeface="Rajdhani"/>
              <a:ea typeface="Rajdhani"/>
              <a:cs typeface="Rajdhani"/>
              <a:sym typeface="Rajdhani"/>
            </a:endParaRPr>
          </a:p>
        </p:txBody>
      </p:sp>
      <p:sp>
        <p:nvSpPr>
          <p:cNvPr id="115" name="Google Shape;115;p9"/>
          <p:cNvSpPr txBox="1"/>
          <p:nvPr/>
        </p:nvSpPr>
        <p:spPr>
          <a:xfrm>
            <a:off x="5099283" y="2545800"/>
            <a:ext cx="34764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ED7D31"/>
                </a:solidFill>
                <a:latin typeface="Rajdhani"/>
                <a:ea typeface="Rajdhani"/>
                <a:cs typeface="Rajdhani"/>
                <a:sym typeface="Rajdhani"/>
              </a:rPr>
              <a:t>Coding Hours Delivered</a:t>
            </a:r>
            <a:endParaRPr b="1" sz="2400">
              <a:solidFill>
                <a:srgbClr val="ED7D31"/>
              </a:solidFill>
              <a:latin typeface="Rajdhani"/>
              <a:ea typeface="Rajdhani"/>
              <a:cs typeface="Rajdhani"/>
              <a:sym typeface="Rajdhani"/>
            </a:endParaRPr>
          </a:p>
        </p:txBody>
      </p:sp>
      <p:sp>
        <p:nvSpPr>
          <p:cNvPr id="116" name="Google Shape;116;p9"/>
          <p:cNvSpPr txBox="1"/>
          <p:nvPr/>
        </p:nvSpPr>
        <p:spPr>
          <a:xfrm>
            <a:off x="9332400" y="2545800"/>
            <a:ext cx="36825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Activities Count</a:t>
            </a:r>
            <a:endParaRPr b="1" sz="2400">
              <a:solidFill>
                <a:srgbClr val="1155CC"/>
              </a:solidFill>
              <a:latin typeface="Rajdhani"/>
              <a:ea typeface="Rajdhani"/>
              <a:cs typeface="Rajdhani"/>
              <a:sym typeface="Rajdhani"/>
            </a:endParaRPr>
          </a:p>
        </p:txBody>
      </p:sp>
      <p:sp>
        <p:nvSpPr>
          <p:cNvPr id="117" name="Google Shape;117;p9"/>
          <p:cNvSpPr txBox="1"/>
          <p:nvPr/>
        </p:nvSpPr>
        <p:spPr>
          <a:xfrm>
            <a:off x="13782050" y="2545800"/>
            <a:ext cx="34764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ED7D31"/>
                </a:solidFill>
                <a:latin typeface="Rajdhani"/>
                <a:ea typeface="Rajdhani"/>
                <a:cs typeface="Rajdhani"/>
                <a:sym typeface="Rajdhani"/>
              </a:rPr>
              <a:t>Computational Artifacts Created</a:t>
            </a:r>
            <a:endParaRPr b="1" sz="2400">
              <a:solidFill>
                <a:srgbClr val="ED7D31"/>
              </a:solidFill>
              <a:latin typeface="Rajdhani"/>
              <a:ea typeface="Rajdhani"/>
              <a:cs typeface="Rajdhani"/>
              <a:sym typeface="Rajdhani"/>
            </a:endParaRPr>
          </a:p>
        </p:txBody>
      </p:sp>
      <p:sp>
        <p:nvSpPr>
          <p:cNvPr id="118" name="Google Shape;118;p9"/>
          <p:cNvSpPr txBox="1"/>
          <p:nvPr/>
        </p:nvSpPr>
        <p:spPr>
          <a:xfrm>
            <a:off x="9476750" y="4146900"/>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chemeClr val="lt1"/>
                </a:solidFill>
                <a:latin typeface="Rajdhani"/>
                <a:ea typeface="Rajdhani"/>
                <a:cs typeface="Rajdhani"/>
                <a:sym typeface="Rajdhani"/>
              </a:rPr>
              <a:t>5</a:t>
            </a:r>
            <a:endParaRPr sz="3100">
              <a:solidFill>
                <a:schemeClr val="lt1"/>
              </a:solidFill>
              <a:latin typeface="Lato"/>
              <a:ea typeface="Lato"/>
              <a:cs typeface="Lato"/>
              <a:sym typeface="Lato"/>
            </a:endParaRPr>
          </a:p>
        </p:txBody>
      </p:sp>
      <p:sp>
        <p:nvSpPr>
          <p:cNvPr id="119" name="Google Shape;119;p9"/>
          <p:cNvSpPr txBox="1"/>
          <p:nvPr/>
        </p:nvSpPr>
        <p:spPr>
          <a:xfrm>
            <a:off x="13801050" y="4146900"/>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chemeClr val="lt1"/>
                </a:solidFill>
                <a:latin typeface="Rajdhani"/>
                <a:ea typeface="Rajdhani"/>
                <a:cs typeface="Rajdhani"/>
                <a:sym typeface="Rajdhani"/>
              </a:rPr>
              <a:t>26</a:t>
            </a:r>
            <a:endParaRPr sz="3100">
              <a:solidFill>
                <a:schemeClr val="lt1"/>
              </a:solidFill>
              <a:latin typeface="Lato"/>
              <a:ea typeface="Lato"/>
              <a:cs typeface="Lato"/>
              <a:sym typeface="Lato"/>
            </a:endParaRPr>
          </a:p>
        </p:txBody>
      </p:sp>
      <p:sp>
        <p:nvSpPr>
          <p:cNvPr id="120" name="Google Shape;120;p9"/>
          <p:cNvSpPr txBox="1"/>
          <p:nvPr/>
        </p:nvSpPr>
        <p:spPr>
          <a:xfrm>
            <a:off x="866175" y="7554050"/>
            <a:ext cx="34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US" sz="1800">
                <a:latin typeface="Lexend"/>
                <a:ea typeface="Lexend"/>
                <a:cs typeface="Lexend"/>
                <a:sym typeface="Lexend"/>
              </a:rPr>
              <a:t>Average of 30.17 coding sessions delivered per grade level across all terms this school year.</a:t>
            </a:r>
            <a:endParaRPr sz="1800">
              <a:solidFill>
                <a:schemeClr val="dk1"/>
              </a:solidFill>
              <a:latin typeface="Lexend"/>
              <a:ea typeface="Lexend"/>
              <a:cs typeface="Lexend"/>
              <a:sym typeface="Lexend"/>
            </a:endParaRPr>
          </a:p>
        </p:txBody>
      </p:sp>
      <p:sp>
        <p:nvSpPr>
          <p:cNvPr id="121" name="Google Shape;121;p9"/>
          <p:cNvSpPr txBox="1"/>
          <p:nvPr/>
        </p:nvSpPr>
        <p:spPr>
          <a:xfrm>
            <a:off x="5164975" y="7554050"/>
            <a:ext cx="34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US" sz="1800">
                <a:latin typeface="Lexend"/>
                <a:ea typeface="Lexend"/>
                <a:cs typeface="Lexend"/>
                <a:sym typeface="Lexend"/>
              </a:rPr>
              <a:t>Equivalent to 25.14 average coding hours per grade level across all terms this school year.</a:t>
            </a:r>
            <a:endParaRPr sz="1800">
              <a:solidFill>
                <a:schemeClr val="dk1"/>
              </a:solidFill>
              <a:latin typeface="Lexend"/>
              <a:ea typeface="Lexend"/>
              <a:cs typeface="Lexend"/>
              <a:sym typeface="Lexend"/>
            </a:endParaRPr>
          </a:p>
        </p:txBody>
      </p:sp>
      <p:sp>
        <p:nvSpPr>
          <p:cNvPr id="122" name="Google Shape;122;p9"/>
          <p:cNvSpPr txBox="1"/>
          <p:nvPr/>
        </p:nvSpPr>
        <p:spPr>
          <a:xfrm>
            <a:off x="9507700" y="7554050"/>
            <a:ext cx="3476400" cy="109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800">
                <a:solidFill>
                  <a:schemeClr val="dk1"/>
                </a:solidFill>
                <a:latin typeface="Lexend"/>
                <a:ea typeface="Lexend"/>
                <a:cs typeface="Lexend"/>
                <a:sym typeface="Lexend"/>
              </a:rPr>
              <a:t>Reflects the diversity of coding learning experiences across grades.</a:t>
            </a:r>
            <a:endParaRPr sz="1800">
              <a:latin typeface="Lexend"/>
              <a:ea typeface="Lexend"/>
              <a:cs typeface="Lexend"/>
              <a:sym typeface="Lexend"/>
            </a:endParaRPr>
          </a:p>
        </p:txBody>
      </p:sp>
      <p:sp>
        <p:nvSpPr>
          <p:cNvPr id="123" name="Google Shape;123;p9"/>
          <p:cNvSpPr txBox="1"/>
          <p:nvPr/>
        </p:nvSpPr>
        <p:spPr>
          <a:xfrm>
            <a:off x="13782100" y="7554050"/>
            <a:ext cx="3476400" cy="1417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800">
                <a:latin typeface="Lexend"/>
                <a:ea typeface="Lexend"/>
                <a:cs typeface="Lexend"/>
                <a:sym typeface="Lexend"/>
              </a:rPr>
              <a:t>Highlights the coding outputs and project work learners created throughout the terms.</a:t>
            </a:r>
            <a:endParaRPr sz="1800">
              <a:latin typeface="Lexend"/>
              <a:ea typeface="Lexend"/>
              <a:cs typeface="Lexend"/>
              <a:sym typeface="Lexend"/>
            </a:endParaRPr>
          </a:p>
        </p:txBody>
      </p:sp>
      <p:sp>
        <p:nvSpPr>
          <p:cNvPr id="124" name="Google Shape;124;p9"/>
          <p:cNvSpPr txBox="1"/>
          <p:nvPr/>
        </p:nvSpPr>
        <p:spPr>
          <a:xfrm>
            <a:off x="866175" y="1832100"/>
            <a:ext cx="16392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latin typeface="Lexend"/>
                <a:ea typeface="Lexend"/>
                <a:cs typeface="Lexend"/>
                <a:sym typeface="Lexend"/>
              </a:rPr>
              <a:t>A snapshot of Grade School coding engagement—by the numbers.</a:t>
            </a:r>
            <a:endParaRPr sz="2200">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Grade School Coding Session Breakdown</a:t>
            </a:r>
            <a:endParaRPr b="1" sz="2400">
              <a:solidFill>
                <a:schemeClr val="dk1"/>
              </a:solidFill>
              <a:latin typeface="Lato"/>
              <a:ea typeface="Lato"/>
              <a:cs typeface="Lato"/>
              <a:sym typeface="Lato"/>
            </a:endParaRPr>
          </a:p>
        </p:txBody>
      </p:sp>
      <p:graphicFrame>
        <p:nvGraphicFramePr>
          <p:cNvPr id="130" name="Google Shape;130;p10"/>
          <p:cNvGraphicFramePr/>
          <p:nvPr/>
        </p:nvGraphicFramePr>
        <p:xfrm>
          <a:off x="457200" y="2664179"/>
          <a:ext cx="3000000" cy="3000000"/>
        </p:xfrm>
        <a:graphic>
          <a:graphicData uri="http://schemas.openxmlformats.org/drawingml/2006/table">
            <a:tbl>
              <a:tblPr>
                <a:noFill/>
                <a:tableStyleId>{3A1ACD15-8FD0-44B1-B854-61B8FE822290}</a:tableStyleId>
              </a:tblPr>
              <a:tblGrid>
                <a:gridCol w="1930900"/>
                <a:gridCol w="2201150"/>
                <a:gridCol w="2201150"/>
                <a:gridCol w="2201150"/>
              </a:tblGrid>
              <a:tr h="594175">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Grade Level</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en-US" sz="1900">
                          <a:solidFill>
                            <a:schemeClr val="lt1"/>
                          </a:solidFill>
                          <a:latin typeface="Lexend"/>
                          <a:ea typeface="Lexend"/>
                          <a:cs typeface="Lexend"/>
                          <a:sym typeface="Lexend"/>
                        </a:rPr>
                        <a:t>1st Half</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b="1" lang="en-US" sz="1900">
                          <a:solidFill>
                            <a:schemeClr val="lt1"/>
                          </a:solidFill>
                          <a:latin typeface="Lexend"/>
                          <a:ea typeface="Lexend"/>
                          <a:cs typeface="Lexend"/>
                          <a:sym typeface="Lexend"/>
                        </a:rPr>
                        <a:t>2nd Half</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Total</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23</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3</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4</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30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5</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13</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6</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26</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r>
            </a:tbl>
          </a:graphicData>
        </a:graphic>
      </p:graphicFrame>
      <p:sp>
        <p:nvSpPr>
          <p:cNvPr id="131" name="Google Shape;131;p10"/>
          <p:cNvSpPr txBox="1"/>
          <p:nvPr/>
        </p:nvSpPr>
        <p:spPr>
          <a:xfrm>
            <a:off x="457200" y="7378350"/>
            <a:ext cx="17373600" cy="1231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Coding sessions varied across grade levels over the course of the year. During the first half of the year, Grade 1 (15), Grade 4 (15) logged the most sessions, while in the second half, Grade 4 (15) recorded the highest overall engagement.</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Coding sessions in the grade school were relatively distributed across grade levels, ensuring that each cohort received meaningful opportunities to learn, code, and create.</a:t>
            </a:r>
            <a:r>
              <a:rPr lang="en-US"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sp>
        <p:nvSpPr>
          <p:cNvPr id="132" name="Google Shape;132;p10"/>
          <p:cNvSpPr txBox="1"/>
          <p:nvPr/>
        </p:nvSpPr>
        <p:spPr>
          <a:xfrm>
            <a:off x="557550" y="1765600"/>
            <a:ext cx="170829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A closer look at how Grade School learners engaged with coding this school year.</a:t>
            </a:r>
            <a:endParaRPr sz="2200">
              <a:solidFill>
                <a:schemeClr val="dk1"/>
              </a:solidFill>
              <a:latin typeface="Lexend"/>
              <a:ea typeface="Lexend"/>
              <a:cs typeface="Lexend"/>
              <a:sym typeface="Lexend"/>
            </a:endParaRPr>
          </a:p>
        </p:txBody>
      </p:sp>
      <p:pic>
        <p:nvPicPr>
          <p:cNvPr id="133" name="Google Shape;133;p10"/>
          <p:cNvPicPr preferRelativeResize="0"/>
          <p:nvPr/>
        </p:nvPicPr>
        <p:blipFill>
          <a:blip r:embed="rId3">
            <a:alphaModFix/>
          </a:blip>
          <a:stretch>
            <a:fillRect/>
          </a:stretch>
        </p:blipFill>
        <p:spPr>
          <a:xfrm>
            <a:off x="9799511" y="2632999"/>
            <a:ext cx="7455794" cy="4233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High </a:t>
            </a:r>
            <a:r>
              <a:rPr b="1" lang="en-US" sz="2400">
                <a:solidFill>
                  <a:schemeClr val="dk1"/>
                </a:solidFill>
                <a:latin typeface="Lato"/>
                <a:ea typeface="Lato"/>
                <a:cs typeface="Lato"/>
                <a:sym typeface="Lato"/>
              </a:rPr>
              <a:t>School Coding Session Breakdown</a:t>
            </a:r>
            <a:endParaRPr b="1" sz="2400">
              <a:solidFill>
                <a:schemeClr val="dk1"/>
              </a:solidFill>
              <a:latin typeface="Lato"/>
              <a:ea typeface="Lato"/>
              <a:cs typeface="Lato"/>
              <a:sym typeface="Lato"/>
            </a:endParaRPr>
          </a:p>
        </p:txBody>
      </p:sp>
      <p:graphicFrame>
        <p:nvGraphicFramePr>
          <p:cNvPr id="139" name="Google Shape;139;p11"/>
          <p:cNvGraphicFramePr/>
          <p:nvPr/>
        </p:nvGraphicFramePr>
        <p:xfrm>
          <a:off x="457200" y="2664179"/>
          <a:ext cx="3000000" cy="3000000"/>
        </p:xfrm>
        <a:graphic>
          <a:graphicData uri="http://schemas.openxmlformats.org/drawingml/2006/table">
            <a:tbl>
              <a:tblPr>
                <a:noFill/>
                <a:tableStyleId>{3A1ACD15-8FD0-44B1-B854-61B8FE822290}</a:tableStyleId>
              </a:tblPr>
              <a:tblGrid>
                <a:gridCol w="1930900"/>
                <a:gridCol w="2201150"/>
                <a:gridCol w="2201150"/>
                <a:gridCol w="2201150"/>
              </a:tblGrid>
              <a:tr h="594175">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Grade Level</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en-US" sz="1900">
                          <a:solidFill>
                            <a:schemeClr val="lt1"/>
                          </a:solidFill>
                          <a:latin typeface="Lexend"/>
                          <a:ea typeface="Lexend"/>
                          <a:cs typeface="Lexend"/>
                          <a:sym typeface="Lexend"/>
                        </a:rPr>
                        <a:t>1st Half</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US" sz="1900">
                          <a:solidFill>
                            <a:schemeClr val="lt1"/>
                          </a:solidFill>
                          <a:latin typeface="Lexend"/>
                          <a:ea typeface="Lexend"/>
                          <a:cs typeface="Lexend"/>
                          <a:sym typeface="Lexend"/>
                        </a:rPr>
                        <a:t>2nd Half</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Total</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7</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26</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8</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23</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9</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10</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17</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39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7</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r>
            </a:tbl>
          </a:graphicData>
        </a:graphic>
      </p:graphicFrame>
      <p:sp>
        <p:nvSpPr>
          <p:cNvPr id="140" name="Google Shape;140;p11"/>
          <p:cNvSpPr txBox="1"/>
          <p:nvPr/>
        </p:nvSpPr>
        <p:spPr>
          <a:xfrm>
            <a:off x="557550" y="1765600"/>
            <a:ext cx="170829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A closer look at how High School learners engaged with coding this school year.</a:t>
            </a:r>
            <a:endParaRPr sz="2200">
              <a:solidFill>
                <a:schemeClr val="dk1"/>
              </a:solidFill>
              <a:latin typeface="Lexend"/>
              <a:ea typeface="Lexend"/>
              <a:cs typeface="Lexend"/>
              <a:sym typeface="Lexend"/>
            </a:endParaRPr>
          </a:p>
        </p:txBody>
      </p:sp>
      <p:sp>
        <p:nvSpPr>
          <p:cNvPr id="141" name="Google Shape;141;p11"/>
          <p:cNvSpPr txBox="1"/>
          <p:nvPr/>
        </p:nvSpPr>
        <p:spPr>
          <a:xfrm>
            <a:off x="457198" y="7374900"/>
            <a:ext cx="17373600" cy="1231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High school coding sessions varied across grade levels over the course of the year. During the first half, Grade 8 (23) logged the most sessions, while in the second half, Grade 7 (26) recorded the highest overall engagement.</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Coding sessions in the high school were more evenly balanced across grade levels, indicating broad access to coding experiences throughout the school.</a:t>
            </a:r>
            <a:r>
              <a:rPr lang="en-US"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142" name="Google Shape;142;p11"/>
          <p:cNvPicPr preferRelativeResize="0"/>
          <p:nvPr/>
        </p:nvPicPr>
        <p:blipFill>
          <a:blip r:embed="rId3">
            <a:alphaModFix/>
          </a:blip>
          <a:stretch>
            <a:fillRect/>
          </a:stretch>
        </p:blipFill>
        <p:spPr>
          <a:xfrm>
            <a:off x="9667716" y="2654543"/>
            <a:ext cx="7719384" cy="4233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All Grade Levels </a:t>
            </a:r>
            <a:r>
              <a:rPr b="1" lang="en-US" sz="2400">
                <a:solidFill>
                  <a:schemeClr val="dk1"/>
                </a:solidFill>
                <a:latin typeface="Lato"/>
                <a:ea typeface="Lato"/>
                <a:cs typeface="Lato"/>
                <a:sym typeface="Lato"/>
              </a:rPr>
              <a:t>Coding Session Breakdown</a:t>
            </a:r>
            <a:endParaRPr b="1" sz="2400">
              <a:solidFill>
                <a:schemeClr val="dk1"/>
              </a:solidFill>
              <a:latin typeface="Lato"/>
              <a:ea typeface="Lato"/>
              <a:cs typeface="Lato"/>
              <a:sym typeface="Lato"/>
            </a:endParaRPr>
          </a:p>
        </p:txBody>
      </p:sp>
      <p:graphicFrame>
        <p:nvGraphicFramePr>
          <p:cNvPr id="148" name="Google Shape;148;p12"/>
          <p:cNvGraphicFramePr/>
          <p:nvPr/>
        </p:nvGraphicFramePr>
        <p:xfrm>
          <a:off x="457200" y="2247915"/>
          <a:ext cx="3000000" cy="3000000"/>
        </p:xfrm>
        <a:graphic>
          <a:graphicData uri="http://schemas.openxmlformats.org/drawingml/2006/table">
            <a:tbl>
              <a:tblPr>
                <a:noFill/>
                <a:tableStyleId>{3A1ACD15-8FD0-44B1-B854-61B8FE822290}</a:tableStyleId>
              </a:tblPr>
              <a:tblGrid>
                <a:gridCol w="1008375"/>
                <a:gridCol w="2854975"/>
                <a:gridCol w="2593450"/>
                <a:gridCol w="2077550"/>
              </a:tblGrid>
              <a:tr h="529375">
                <a:tc>
                  <a:txBody>
                    <a:bodyPr/>
                    <a:lstStyle/>
                    <a:p>
                      <a:pPr indent="0" lvl="0" marL="0" rtl="0" algn="ctr">
                        <a:lnSpc>
                          <a:spcPct val="115000"/>
                        </a:lnSpc>
                        <a:spcBef>
                          <a:spcPts val="0"/>
                        </a:spcBef>
                        <a:spcAft>
                          <a:spcPts val="0"/>
                        </a:spcAft>
                        <a:buNone/>
                      </a:pPr>
                      <a:r>
                        <a:rPr b="1" lang="en-US" sz="1900">
                          <a:solidFill>
                            <a:srgbClr val="1155CC"/>
                          </a:solidFill>
                          <a:latin typeface="Lexend"/>
                          <a:ea typeface="Lexend"/>
                          <a:cs typeface="Lexend"/>
                          <a:sym typeface="Lexend"/>
                        </a:rPr>
                        <a:t>Grade </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en-US" sz="1900">
                          <a:solidFill>
                            <a:srgbClr val="1155CC"/>
                          </a:solidFill>
                          <a:latin typeface="Lexend"/>
                          <a:ea typeface="Lexend"/>
                          <a:cs typeface="Lexend"/>
                          <a:sym typeface="Lexend"/>
                        </a:rPr>
                        <a:t>1st Half</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900">
                          <a:solidFill>
                            <a:srgbClr val="1155CC"/>
                          </a:solidFill>
                          <a:latin typeface="Lexend"/>
                          <a:ea typeface="Lexend"/>
                          <a:cs typeface="Lexend"/>
                          <a:sym typeface="Lexend"/>
                        </a:rPr>
                        <a:t>2nd Half</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900">
                          <a:solidFill>
                            <a:srgbClr val="1155CC"/>
                          </a:solidFill>
                          <a:latin typeface="Lexend"/>
                          <a:ea typeface="Lexend"/>
                          <a:cs typeface="Lexend"/>
                          <a:sym typeface="Lexend"/>
                        </a:rPr>
                        <a:t>Total</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23</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3</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4</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30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5</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13</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6</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26</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7</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26</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8</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23</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9</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10</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17</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39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25</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7</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19</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r>
            </a:tbl>
          </a:graphicData>
        </a:graphic>
      </p:graphicFrame>
      <p:sp>
        <p:nvSpPr>
          <p:cNvPr id="149" name="Google Shape;149;p12"/>
          <p:cNvSpPr txBox="1"/>
          <p:nvPr/>
        </p:nvSpPr>
        <p:spPr>
          <a:xfrm>
            <a:off x="557550" y="1534691"/>
            <a:ext cx="170829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200">
                <a:solidFill>
                  <a:schemeClr val="dk1"/>
                </a:solidFill>
                <a:latin typeface="Lexend"/>
                <a:ea typeface="Lexend"/>
                <a:cs typeface="Lexend"/>
                <a:sym typeface="Lexend"/>
              </a:rPr>
              <a:t>Coding session breakdown of all grade levels learners engaged with ACE this school year.</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50" name="Google Shape;150;p12"/>
          <p:cNvSpPr txBox="1"/>
          <p:nvPr/>
        </p:nvSpPr>
        <p:spPr>
          <a:xfrm>
            <a:off x="9414250" y="7305125"/>
            <a:ext cx="8371500" cy="1074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1700">
                <a:solidFill>
                  <a:schemeClr val="dk1"/>
                </a:solidFill>
                <a:latin typeface="Lexend"/>
                <a:ea typeface="Lexend"/>
                <a:cs typeface="Lexend"/>
                <a:sym typeface="Lexend"/>
              </a:rPr>
              <a:t>Schoolwide coding sessions varied across grade levels, showing different coding activity focus at each grade. Grade 7 (45) recorded the highest number of coding sessions, followed by Grade 8 (42), Grade 9 (42), while Grade 12 (19) had the fewest among grade levels with recorded sessions.</a:t>
            </a:r>
            <a:endParaRPr sz="17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t/>
            </a:r>
            <a:endParaRPr sz="17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rPr lang="en-US" sz="1700">
                <a:solidFill>
                  <a:schemeClr val="dk1"/>
                </a:solidFill>
                <a:latin typeface="Lexend"/>
                <a:ea typeface="Lexend"/>
                <a:cs typeface="Lexend"/>
                <a:sym typeface="Lexend"/>
              </a:rPr>
              <a:t>Across the school, coding sessions were relatively balanced by grade level, suggesting broad access to coding opportunities.</a:t>
            </a:r>
            <a:r>
              <a:rPr lang="en-US" sz="1700">
                <a:solidFill>
                  <a:schemeClr val="dk1"/>
                </a:solidFill>
                <a:latin typeface="Lexend"/>
                <a:ea typeface="Lexend"/>
                <a:cs typeface="Lexend"/>
                <a:sym typeface="Lexend"/>
              </a:rPr>
              <a:t>				</a:t>
            </a:r>
            <a:endParaRPr sz="1700">
              <a:solidFill>
                <a:schemeClr val="dk1"/>
              </a:solidFill>
              <a:latin typeface="Lexend"/>
              <a:ea typeface="Lexend"/>
              <a:cs typeface="Lexend"/>
              <a:sym typeface="Lexend"/>
            </a:endParaRPr>
          </a:p>
        </p:txBody>
      </p:sp>
      <p:pic>
        <p:nvPicPr>
          <p:cNvPr id="151" name="Google Shape;151;p12"/>
          <p:cNvPicPr preferRelativeResize="0"/>
          <p:nvPr/>
        </p:nvPicPr>
        <p:blipFill>
          <a:blip r:embed="rId3">
            <a:alphaModFix/>
          </a:blip>
          <a:stretch>
            <a:fillRect/>
          </a:stretch>
        </p:blipFill>
        <p:spPr>
          <a:xfrm>
            <a:off x="9194900" y="2341315"/>
            <a:ext cx="8635800" cy="48703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p:nvPr/>
        </p:nvSpPr>
        <p:spPr>
          <a:xfrm>
            <a:off x="820150" y="5647600"/>
            <a:ext cx="1486500" cy="2409000"/>
          </a:xfrm>
          <a:prstGeom prst="roundRect">
            <a:avLst>
              <a:gd fmla="val 3423" name="adj"/>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7" name="Google Shape;157;p13"/>
          <p:cNvSpPr/>
          <p:nvPr/>
        </p:nvSpPr>
        <p:spPr>
          <a:xfrm>
            <a:off x="806650" y="2985775"/>
            <a:ext cx="1486500" cy="24090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8" name="Google Shape;158;p13"/>
          <p:cNvSpPr txBox="1"/>
          <p:nvPr/>
        </p:nvSpPr>
        <p:spPr>
          <a:xfrm>
            <a:off x="5619300" y="2181850"/>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Activities Conducted</a:t>
            </a:r>
            <a:endParaRPr b="1" sz="2000">
              <a:solidFill>
                <a:schemeClr val="dk1"/>
              </a:solidFill>
              <a:latin typeface="Rajdhani"/>
              <a:ea typeface="Rajdhani"/>
              <a:cs typeface="Rajdhani"/>
              <a:sym typeface="Rajdhani"/>
            </a:endParaRPr>
          </a:p>
        </p:txBody>
      </p:sp>
      <p:sp>
        <p:nvSpPr>
          <p:cNvPr id="159" name="Google Shape;159;p13"/>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Schoolwide</a:t>
            </a:r>
            <a:r>
              <a:rPr b="1" lang="en-US" sz="2400">
                <a:solidFill>
                  <a:schemeClr val="dk1"/>
                </a:solidFill>
                <a:latin typeface="Lato"/>
                <a:ea typeface="Lato"/>
                <a:cs typeface="Lato"/>
                <a:sym typeface="Lato"/>
              </a:rPr>
              <a:t> Coding Activities</a:t>
            </a:r>
            <a:endParaRPr b="1" sz="2400">
              <a:solidFill>
                <a:schemeClr val="dk1"/>
              </a:solidFill>
              <a:latin typeface="Lato"/>
              <a:ea typeface="Lato"/>
              <a:cs typeface="Lato"/>
              <a:sym typeface="Lato"/>
            </a:endParaRPr>
          </a:p>
        </p:txBody>
      </p:sp>
      <p:sp>
        <p:nvSpPr>
          <p:cNvPr id="160" name="Google Shape;160;p13"/>
          <p:cNvSpPr txBox="1"/>
          <p:nvPr/>
        </p:nvSpPr>
        <p:spPr>
          <a:xfrm>
            <a:off x="2804525" y="3264475"/>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lang="en-US" sz="10000">
                <a:solidFill>
                  <a:srgbClr val="1155CC"/>
                </a:solidFill>
                <a:latin typeface="Rajdhani"/>
                <a:ea typeface="Rajdhani"/>
                <a:cs typeface="Rajdhani"/>
                <a:sym typeface="Rajdhani"/>
              </a:rPr>
              <a:t>2</a:t>
            </a:r>
            <a:endParaRPr sz="2000">
              <a:solidFill>
                <a:srgbClr val="1155CC"/>
              </a:solidFill>
              <a:latin typeface="Lato"/>
              <a:ea typeface="Lato"/>
              <a:cs typeface="Lato"/>
              <a:sym typeface="Lato"/>
            </a:endParaRPr>
          </a:p>
        </p:txBody>
      </p:sp>
      <p:sp>
        <p:nvSpPr>
          <p:cNvPr id="161" name="Google Shape;161;p13"/>
          <p:cNvSpPr txBox="1"/>
          <p:nvPr/>
        </p:nvSpPr>
        <p:spPr>
          <a:xfrm>
            <a:off x="576575" y="3943975"/>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Mid-year</a:t>
            </a:r>
            <a:endParaRPr b="1" sz="2000">
              <a:solidFill>
                <a:srgbClr val="1155CC"/>
              </a:solidFill>
              <a:latin typeface="Lexend"/>
              <a:ea typeface="Lexend"/>
              <a:cs typeface="Lexend"/>
              <a:sym typeface="Lexend"/>
            </a:endParaRPr>
          </a:p>
        </p:txBody>
      </p:sp>
      <p:sp>
        <p:nvSpPr>
          <p:cNvPr id="162" name="Google Shape;162;p13"/>
          <p:cNvSpPr txBox="1"/>
          <p:nvPr/>
        </p:nvSpPr>
        <p:spPr>
          <a:xfrm>
            <a:off x="5619300" y="3235975"/>
            <a:ext cx="4562100" cy="49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Onboarding (187)</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Student Orientation (6)</a:t>
            </a:r>
            <a:endParaRPr sz="2000">
              <a:solidFill>
                <a:srgbClr val="1155CC"/>
              </a:solidFill>
              <a:latin typeface="Lexend"/>
              <a:ea typeface="Lexend"/>
              <a:cs typeface="Lexend"/>
              <a:sym typeface="Lexend"/>
            </a:endParaRPr>
          </a:p>
        </p:txBody>
      </p:sp>
      <p:sp>
        <p:nvSpPr>
          <p:cNvPr id="163" name="Google Shape;163;p13"/>
          <p:cNvSpPr/>
          <p:nvPr/>
        </p:nvSpPr>
        <p:spPr>
          <a:xfrm>
            <a:off x="11611849" y="3393425"/>
            <a:ext cx="5916125" cy="3754476"/>
          </a:xfrm>
          <a:custGeom>
            <a:rect b="b" l="l" r="r" t="t"/>
            <a:pathLst>
              <a:path extrusionOk="0" h="1025813" w="1589288">
                <a:moveTo>
                  <a:pt x="0" y="0"/>
                </a:moveTo>
                <a:lnTo>
                  <a:pt x="1589287" y="0"/>
                </a:lnTo>
                <a:lnTo>
                  <a:pt x="1589287" y="1025813"/>
                </a:lnTo>
                <a:lnTo>
                  <a:pt x="0" y="1025813"/>
                </a:lnTo>
                <a:lnTo>
                  <a:pt x="0" y="0"/>
                </a:lnTo>
                <a:close/>
              </a:path>
            </a:pathLst>
          </a:custGeom>
          <a:blipFill rotWithShape="1">
            <a:blip r:embed="rId3">
              <a:alphaModFix/>
            </a:blip>
            <a:stretch>
              <a:fillRect b="0" l="0" r="0" t="0"/>
            </a:stretch>
          </a:blipFill>
          <a:ln>
            <a:noFill/>
          </a:ln>
        </p:spPr>
      </p:sp>
      <p:sp>
        <p:nvSpPr>
          <p:cNvPr id="164" name="Google Shape;164;p13"/>
          <p:cNvSpPr txBox="1"/>
          <p:nvPr/>
        </p:nvSpPr>
        <p:spPr>
          <a:xfrm>
            <a:off x="806650" y="2181850"/>
            <a:ext cx="43095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Activities Count</a:t>
            </a:r>
            <a:endParaRPr b="1" sz="2000">
              <a:solidFill>
                <a:schemeClr val="dk1"/>
              </a:solidFill>
              <a:latin typeface="Rajdhani"/>
              <a:ea typeface="Rajdhani"/>
              <a:cs typeface="Rajdhani"/>
              <a:sym typeface="Rajdhani"/>
            </a:endParaRPr>
          </a:p>
        </p:txBody>
      </p:sp>
      <p:cxnSp>
        <p:nvCxnSpPr>
          <p:cNvPr id="165" name="Google Shape;165;p13"/>
          <p:cNvCxnSpPr/>
          <p:nvPr/>
        </p:nvCxnSpPr>
        <p:spPr>
          <a:xfrm>
            <a:off x="806650" y="5540300"/>
            <a:ext cx="9174000" cy="0"/>
          </a:xfrm>
          <a:prstGeom prst="straightConnector1">
            <a:avLst/>
          </a:prstGeom>
          <a:noFill/>
          <a:ln cap="flat" cmpd="sng" w="19050">
            <a:solidFill>
              <a:srgbClr val="000000"/>
            </a:solidFill>
            <a:prstDash val="solid"/>
            <a:round/>
            <a:headEnd len="med" w="med" type="none"/>
            <a:tailEnd len="med" w="med" type="none"/>
          </a:ln>
        </p:spPr>
      </p:cxnSp>
      <p:sp>
        <p:nvSpPr>
          <p:cNvPr id="166" name="Google Shape;166;p13"/>
          <p:cNvSpPr txBox="1"/>
          <p:nvPr/>
        </p:nvSpPr>
        <p:spPr>
          <a:xfrm>
            <a:off x="2850784" y="5926288"/>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FF9900"/>
                </a:solidFill>
                <a:latin typeface="Rajdhani"/>
                <a:ea typeface="Rajdhani"/>
                <a:cs typeface="Rajdhani"/>
                <a:sym typeface="Rajdhani"/>
              </a:rPr>
              <a:t>4</a:t>
            </a:r>
            <a:endParaRPr b="1" sz="10000">
              <a:solidFill>
                <a:srgbClr val="FF9900"/>
              </a:solidFill>
              <a:latin typeface="Rajdhani"/>
              <a:ea typeface="Rajdhani"/>
              <a:cs typeface="Rajdhani"/>
              <a:sym typeface="Rajdhani"/>
            </a:endParaRPr>
          </a:p>
          <a:p>
            <a:pPr indent="0" lvl="0" marL="0" marR="0" rtl="0" algn="l">
              <a:lnSpc>
                <a:spcPct val="115000"/>
              </a:lnSpc>
              <a:spcBef>
                <a:spcPts val="0"/>
              </a:spcBef>
              <a:spcAft>
                <a:spcPts val="0"/>
              </a:spcAft>
              <a:buNone/>
            </a:pPr>
            <a:r>
              <a:t/>
            </a:r>
            <a:endParaRPr b="1" sz="10000">
              <a:solidFill>
                <a:srgbClr val="FF9900"/>
              </a:solidFill>
              <a:latin typeface="Rajdhani"/>
              <a:ea typeface="Rajdhani"/>
              <a:cs typeface="Rajdhani"/>
              <a:sym typeface="Rajdhani"/>
            </a:endParaRPr>
          </a:p>
        </p:txBody>
      </p:sp>
      <p:sp>
        <p:nvSpPr>
          <p:cNvPr id="167" name="Google Shape;167;p13"/>
          <p:cNvSpPr txBox="1"/>
          <p:nvPr/>
        </p:nvSpPr>
        <p:spPr>
          <a:xfrm>
            <a:off x="622834" y="6605788"/>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FF9900"/>
                </a:solidFill>
                <a:latin typeface="Lexend"/>
                <a:ea typeface="Lexend"/>
                <a:cs typeface="Lexend"/>
                <a:sym typeface="Lexend"/>
              </a:rPr>
              <a:t>2nd half</a:t>
            </a:r>
            <a:endParaRPr b="1" sz="2000">
              <a:solidFill>
                <a:srgbClr val="FF9900"/>
              </a:solidFill>
              <a:latin typeface="Lexend"/>
              <a:ea typeface="Lexend"/>
              <a:cs typeface="Lexend"/>
              <a:sym typeface="Lexend"/>
            </a:endParaRPr>
          </a:p>
        </p:txBody>
      </p:sp>
      <p:sp>
        <p:nvSpPr>
          <p:cNvPr id="168" name="Google Shape;168;p13"/>
          <p:cNvSpPr txBox="1"/>
          <p:nvPr/>
        </p:nvSpPr>
        <p:spPr>
          <a:xfrm>
            <a:off x="5665559" y="5897788"/>
            <a:ext cx="4562100" cy="84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FF9900"/>
                </a:solidFill>
                <a:latin typeface="Lexend"/>
                <a:ea typeface="Lexend"/>
                <a:cs typeface="Lexend"/>
                <a:sym typeface="Lexend"/>
              </a:rPr>
              <a:t>Onboarding (112)</a:t>
            </a:r>
            <a:endParaRPr sz="2000">
              <a:solidFill>
                <a:srgbClr val="FF9900"/>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FF9900"/>
                </a:solidFill>
                <a:latin typeface="Lexend"/>
                <a:ea typeface="Lexend"/>
                <a:cs typeface="Lexend"/>
                <a:sym typeface="Lexend"/>
              </a:rPr>
              <a:t>Project Creation (61)</a:t>
            </a:r>
            <a:endParaRPr sz="2000">
              <a:solidFill>
                <a:srgbClr val="FF9900"/>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FF9900"/>
                </a:solidFill>
                <a:latin typeface="Lexend"/>
                <a:ea typeface="Lexend"/>
                <a:cs typeface="Lexend"/>
                <a:sym typeface="Lexend"/>
              </a:rPr>
              <a:t>Build and Code Session (3)</a:t>
            </a:r>
            <a:endParaRPr sz="2000">
              <a:solidFill>
                <a:srgbClr val="FF9900"/>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FF9900"/>
                </a:solidFill>
                <a:latin typeface="Lexend"/>
                <a:ea typeface="Lexend"/>
                <a:cs typeface="Lexend"/>
                <a:sym typeface="Lexend"/>
              </a:rPr>
              <a:t>Coding Session (2)</a:t>
            </a:r>
            <a:endParaRPr sz="2000">
              <a:solidFill>
                <a:srgbClr val="FF9900"/>
              </a:solidFill>
              <a:latin typeface="Lexend"/>
              <a:ea typeface="Lexend"/>
              <a:cs typeface="Lexend"/>
              <a:sym typeface="Lexend"/>
            </a:endParaRPr>
          </a:p>
          <a:p>
            <a:pPr indent="0" lvl="0" marL="0" rtl="0" algn="l">
              <a:lnSpc>
                <a:spcPct val="115000"/>
              </a:lnSpc>
              <a:spcBef>
                <a:spcPts val="0"/>
              </a:spcBef>
              <a:spcAft>
                <a:spcPts val="0"/>
              </a:spcAft>
              <a:buNone/>
            </a:pPr>
            <a:r>
              <a:t/>
            </a:r>
            <a:endParaRPr sz="2000">
              <a:solidFill>
                <a:srgbClr val="FF9900"/>
              </a:solidFill>
              <a:latin typeface="Lexend"/>
              <a:ea typeface="Lexend"/>
              <a:cs typeface="Lexend"/>
              <a:sym typeface="Lexend"/>
            </a:endParaRPr>
          </a:p>
        </p:txBody>
      </p:sp>
      <p:cxnSp>
        <p:nvCxnSpPr>
          <p:cNvPr id="169" name="Google Shape;169;p13"/>
          <p:cNvCxnSpPr/>
          <p:nvPr/>
        </p:nvCxnSpPr>
        <p:spPr>
          <a:xfrm>
            <a:off x="806650" y="2837646"/>
            <a:ext cx="9174000" cy="0"/>
          </a:xfrm>
          <a:prstGeom prst="straightConnector1">
            <a:avLst/>
          </a:prstGeom>
          <a:noFill/>
          <a:ln cap="flat" cmpd="sng" w="19050">
            <a:solidFill>
              <a:srgbClr val="000000"/>
            </a:solidFill>
            <a:prstDash val="solid"/>
            <a:round/>
            <a:headEnd len="med" w="med" type="none"/>
            <a:tailEnd len="med" w="med" type="none"/>
          </a:ln>
        </p:spPr>
      </p:cxnSp>
      <p:cxnSp>
        <p:nvCxnSpPr>
          <p:cNvPr id="170" name="Google Shape;170;p13"/>
          <p:cNvCxnSpPr/>
          <p:nvPr/>
        </p:nvCxnSpPr>
        <p:spPr>
          <a:xfrm>
            <a:off x="793150" y="8203525"/>
            <a:ext cx="9174000" cy="0"/>
          </a:xfrm>
          <a:prstGeom prst="straightConnector1">
            <a:avLst/>
          </a:prstGeom>
          <a:noFill/>
          <a:ln cap="flat" cmpd="sng" w="19050">
            <a:solidFill>
              <a:srgbClr val="000000"/>
            </a:solidFill>
            <a:prstDash val="solid"/>
            <a:round/>
            <a:headEnd len="med" w="med" type="none"/>
            <a:tailEnd len="med" w="med" type="none"/>
          </a:ln>
        </p:spPr>
      </p:cxnSp>
      <p:sp>
        <p:nvSpPr>
          <p:cNvPr id="171" name="Google Shape;171;p13"/>
          <p:cNvSpPr txBox="1"/>
          <p:nvPr/>
        </p:nvSpPr>
        <p:spPr>
          <a:xfrm>
            <a:off x="820150" y="1567638"/>
            <a:ext cx="10059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From sessions to projects, here’s how coding unfolded across the terms.</a:t>
            </a:r>
            <a:endParaRPr>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nvSpPr>
        <p:spPr>
          <a:xfrm>
            <a:off x="5619300" y="2181850"/>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Activities Conducted</a:t>
            </a:r>
            <a:endParaRPr b="1" sz="2000">
              <a:solidFill>
                <a:schemeClr val="dk1"/>
              </a:solidFill>
              <a:latin typeface="Rajdhani"/>
              <a:ea typeface="Rajdhani"/>
              <a:cs typeface="Rajdhani"/>
              <a:sym typeface="Rajdhani"/>
            </a:endParaRPr>
          </a:p>
        </p:txBody>
      </p:sp>
      <p:sp>
        <p:nvSpPr>
          <p:cNvPr id="177" name="Google Shape;177;p14"/>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Schoolwide</a:t>
            </a:r>
            <a:r>
              <a:rPr b="1" lang="en-US" sz="2400">
                <a:solidFill>
                  <a:schemeClr val="dk1"/>
                </a:solidFill>
                <a:latin typeface="Lato"/>
                <a:ea typeface="Lato"/>
                <a:cs typeface="Lato"/>
                <a:sym typeface="Lato"/>
              </a:rPr>
              <a:t> Coding Activities</a:t>
            </a:r>
            <a:endParaRPr b="1" sz="2400">
              <a:solidFill>
                <a:schemeClr val="dk1"/>
              </a:solidFill>
              <a:latin typeface="Lato"/>
              <a:ea typeface="Lato"/>
              <a:cs typeface="Lato"/>
              <a:sym typeface="Lato"/>
            </a:endParaRPr>
          </a:p>
        </p:txBody>
      </p:sp>
      <p:sp>
        <p:nvSpPr>
          <p:cNvPr id="178" name="Google Shape;178;p14"/>
          <p:cNvSpPr txBox="1"/>
          <p:nvPr/>
        </p:nvSpPr>
        <p:spPr>
          <a:xfrm>
            <a:off x="2804525" y="3393425"/>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1155CC"/>
                </a:solidFill>
                <a:latin typeface="Rajdhani"/>
                <a:ea typeface="Rajdhani"/>
                <a:cs typeface="Rajdhani"/>
                <a:sym typeface="Rajdhani"/>
              </a:rPr>
              <a:t>5</a:t>
            </a:r>
            <a:endParaRPr b="1" sz="10000">
              <a:solidFill>
                <a:srgbClr val="1155CC"/>
              </a:solidFill>
              <a:latin typeface="Rajdhani"/>
              <a:ea typeface="Rajdhani"/>
              <a:cs typeface="Rajdhani"/>
              <a:sym typeface="Rajdhani"/>
            </a:endParaRPr>
          </a:p>
          <a:p>
            <a:pPr indent="0" lvl="0" marL="0" marR="0" rtl="0" algn="l">
              <a:lnSpc>
                <a:spcPct val="115000"/>
              </a:lnSpc>
              <a:spcBef>
                <a:spcPts val="0"/>
              </a:spcBef>
              <a:spcAft>
                <a:spcPts val="0"/>
              </a:spcAft>
              <a:buNone/>
            </a:pPr>
            <a:r>
              <a:t/>
            </a:r>
            <a:endParaRPr b="1" sz="10000">
              <a:solidFill>
                <a:srgbClr val="1155CC"/>
              </a:solidFill>
              <a:latin typeface="Rajdhani"/>
              <a:ea typeface="Rajdhani"/>
              <a:cs typeface="Rajdhani"/>
              <a:sym typeface="Rajdhani"/>
            </a:endParaRPr>
          </a:p>
        </p:txBody>
      </p:sp>
      <p:sp>
        <p:nvSpPr>
          <p:cNvPr id="179" name="Google Shape;179;p14"/>
          <p:cNvSpPr txBox="1"/>
          <p:nvPr/>
        </p:nvSpPr>
        <p:spPr>
          <a:xfrm>
            <a:off x="576575" y="3943125"/>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Year-end</a:t>
            </a:r>
            <a:endParaRPr b="1" sz="2000">
              <a:solidFill>
                <a:srgbClr val="1155CC"/>
              </a:solidFill>
              <a:latin typeface="Lexend"/>
              <a:ea typeface="Lexend"/>
              <a:cs typeface="Lexend"/>
              <a:sym typeface="Lexend"/>
            </a:endParaRPr>
          </a:p>
        </p:txBody>
      </p:sp>
      <p:sp>
        <p:nvSpPr>
          <p:cNvPr id="180" name="Google Shape;180;p14"/>
          <p:cNvSpPr txBox="1"/>
          <p:nvPr/>
        </p:nvSpPr>
        <p:spPr>
          <a:xfrm>
            <a:off x="5619300" y="3364925"/>
            <a:ext cx="4562100" cy="84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Onboarding (299)</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Project Creation (61)</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Student Orientation (6)</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Build and Code Session (3)</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Coding Session (2)</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t/>
            </a:r>
            <a:endParaRPr sz="2000">
              <a:solidFill>
                <a:srgbClr val="1155CC"/>
              </a:solidFill>
              <a:latin typeface="Lexend"/>
              <a:ea typeface="Lexend"/>
              <a:cs typeface="Lexend"/>
              <a:sym typeface="Lexend"/>
            </a:endParaRPr>
          </a:p>
        </p:txBody>
      </p:sp>
      <p:sp>
        <p:nvSpPr>
          <p:cNvPr id="181" name="Google Shape;181;p14"/>
          <p:cNvSpPr/>
          <p:nvPr/>
        </p:nvSpPr>
        <p:spPr>
          <a:xfrm>
            <a:off x="11611849" y="3393425"/>
            <a:ext cx="5916125" cy="3754476"/>
          </a:xfrm>
          <a:custGeom>
            <a:rect b="b" l="l" r="r" t="t"/>
            <a:pathLst>
              <a:path extrusionOk="0" h="1025813" w="1589288">
                <a:moveTo>
                  <a:pt x="0" y="0"/>
                </a:moveTo>
                <a:lnTo>
                  <a:pt x="1589287" y="0"/>
                </a:lnTo>
                <a:lnTo>
                  <a:pt x="1589287" y="1025813"/>
                </a:lnTo>
                <a:lnTo>
                  <a:pt x="0" y="1025813"/>
                </a:lnTo>
                <a:lnTo>
                  <a:pt x="0" y="0"/>
                </a:lnTo>
                <a:close/>
              </a:path>
            </a:pathLst>
          </a:custGeom>
          <a:blipFill rotWithShape="1">
            <a:blip r:embed="rId3">
              <a:alphaModFix/>
            </a:blip>
            <a:stretch>
              <a:fillRect b="0" l="0" r="0" t="0"/>
            </a:stretch>
          </a:blipFill>
          <a:ln>
            <a:noFill/>
          </a:ln>
        </p:spPr>
      </p:sp>
      <p:sp>
        <p:nvSpPr>
          <p:cNvPr id="182" name="Google Shape;182;p14"/>
          <p:cNvSpPr txBox="1"/>
          <p:nvPr/>
        </p:nvSpPr>
        <p:spPr>
          <a:xfrm>
            <a:off x="806650" y="2181850"/>
            <a:ext cx="43095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Activities Count</a:t>
            </a:r>
            <a:endParaRPr b="1" sz="2000">
              <a:solidFill>
                <a:schemeClr val="dk1"/>
              </a:solidFill>
              <a:latin typeface="Rajdhani"/>
              <a:ea typeface="Rajdhani"/>
              <a:cs typeface="Rajdhani"/>
              <a:sym typeface="Rajdhani"/>
            </a:endParaRPr>
          </a:p>
        </p:txBody>
      </p:sp>
      <p:cxnSp>
        <p:nvCxnSpPr>
          <p:cNvPr id="183" name="Google Shape;183;p14"/>
          <p:cNvCxnSpPr/>
          <p:nvPr/>
        </p:nvCxnSpPr>
        <p:spPr>
          <a:xfrm>
            <a:off x="806650" y="2837646"/>
            <a:ext cx="9174000" cy="0"/>
          </a:xfrm>
          <a:prstGeom prst="straightConnector1">
            <a:avLst/>
          </a:prstGeom>
          <a:noFill/>
          <a:ln cap="flat" cmpd="sng" w="28575">
            <a:solidFill>
              <a:schemeClr val="dk1"/>
            </a:solidFill>
            <a:prstDash val="solid"/>
            <a:round/>
            <a:headEnd len="med" w="med" type="none"/>
            <a:tailEnd len="med" w="med" type="none"/>
          </a:ln>
        </p:spPr>
      </p:cxnSp>
      <p:cxnSp>
        <p:nvCxnSpPr>
          <p:cNvPr id="184" name="Google Shape;184;p14"/>
          <p:cNvCxnSpPr/>
          <p:nvPr/>
        </p:nvCxnSpPr>
        <p:spPr>
          <a:xfrm>
            <a:off x="1007400" y="7426696"/>
            <a:ext cx="9174000" cy="0"/>
          </a:xfrm>
          <a:prstGeom prst="straightConnector1">
            <a:avLst/>
          </a:prstGeom>
          <a:noFill/>
          <a:ln cap="flat" cmpd="sng" w="9525">
            <a:solidFill>
              <a:schemeClr val="dk1"/>
            </a:solidFill>
            <a:prstDash val="solid"/>
            <a:round/>
            <a:headEnd len="med" w="med" type="none"/>
            <a:tailEnd len="med" w="med" type="none"/>
          </a:ln>
        </p:spPr>
      </p:cxnSp>
      <p:sp>
        <p:nvSpPr>
          <p:cNvPr id="185" name="Google Shape;185;p14"/>
          <p:cNvSpPr txBox="1"/>
          <p:nvPr/>
        </p:nvSpPr>
        <p:spPr>
          <a:xfrm>
            <a:off x="965700" y="7644925"/>
            <a:ext cx="16441500" cy="162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chemeClr val="dk1"/>
                </a:solidFill>
                <a:latin typeface="Lexend"/>
                <a:ea typeface="Lexend"/>
                <a:cs typeface="Lexend"/>
                <a:sym typeface="Lexend"/>
              </a:rPr>
              <a:t>Across the first and second halves of the year, schoolwide coding activities moved learners through the full cycle—from orientation and onboarding to project creation, presentation, and reflection. Together, these activities show students engaging more confidently with coding over time and highlight the strong partnership between teachers and the ACE program in sustaining that growth.</a:t>
            </a:r>
            <a:endParaRPr sz="22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200">
              <a:solidFill>
                <a:srgbClr val="FF0000"/>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p:nvPr/>
        </p:nvSpPr>
        <p:spPr>
          <a:xfrm>
            <a:off x="6393125" y="5818114"/>
            <a:ext cx="1486500" cy="2283300"/>
          </a:xfrm>
          <a:prstGeom prst="roundRect">
            <a:avLst>
              <a:gd fmla="val 3423" name="adj"/>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p15"/>
          <p:cNvSpPr/>
          <p:nvPr/>
        </p:nvSpPr>
        <p:spPr>
          <a:xfrm>
            <a:off x="6379625" y="3156289"/>
            <a:ext cx="1486500" cy="24090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2" name="Google Shape;192;p15"/>
          <p:cNvSpPr txBox="1"/>
          <p:nvPr/>
        </p:nvSpPr>
        <p:spPr>
          <a:xfrm>
            <a:off x="11150485" y="2350032"/>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Subject/s Involved</a:t>
            </a:r>
            <a:endParaRPr b="1" sz="2000">
              <a:solidFill>
                <a:schemeClr val="dk1"/>
              </a:solidFill>
              <a:latin typeface="Rajdhani"/>
              <a:ea typeface="Rajdhani"/>
              <a:cs typeface="Rajdhani"/>
              <a:sym typeface="Rajdhani"/>
            </a:endParaRPr>
          </a:p>
        </p:txBody>
      </p:sp>
      <p:sp>
        <p:nvSpPr>
          <p:cNvPr id="193" name="Google Shape;193;p15"/>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Subject Integration / Coding Anchor Subjects</a:t>
            </a:r>
            <a:endParaRPr b="1" sz="2400">
              <a:solidFill>
                <a:schemeClr val="dk1"/>
              </a:solidFill>
              <a:latin typeface="Lato"/>
              <a:ea typeface="Lato"/>
              <a:cs typeface="Lato"/>
              <a:sym typeface="Lato"/>
            </a:endParaRPr>
          </a:p>
        </p:txBody>
      </p:sp>
      <p:sp>
        <p:nvSpPr>
          <p:cNvPr id="194" name="Google Shape;194;p15"/>
          <p:cNvSpPr txBox="1"/>
          <p:nvPr/>
        </p:nvSpPr>
        <p:spPr>
          <a:xfrm>
            <a:off x="8335710" y="3561607"/>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1155CC"/>
                </a:solidFill>
                <a:latin typeface="Rajdhani"/>
                <a:ea typeface="Rajdhani"/>
                <a:cs typeface="Rajdhani"/>
                <a:sym typeface="Rajdhani"/>
              </a:rPr>
              <a:t>1</a:t>
            </a:r>
            <a:endParaRPr sz="2000">
              <a:solidFill>
                <a:srgbClr val="1155CC"/>
              </a:solidFill>
              <a:latin typeface="Lato"/>
              <a:ea typeface="Lato"/>
              <a:cs typeface="Lato"/>
              <a:sym typeface="Lato"/>
            </a:endParaRPr>
          </a:p>
        </p:txBody>
      </p:sp>
      <p:sp>
        <p:nvSpPr>
          <p:cNvPr id="195" name="Google Shape;195;p15"/>
          <p:cNvSpPr txBox="1"/>
          <p:nvPr/>
        </p:nvSpPr>
        <p:spPr>
          <a:xfrm>
            <a:off x="6107760" y="4111307"/>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Mid-year</a:t>
            </a:r>
            <a:endParaRPr b="1" sz="2000">
              <a:solidFill>
                <a:srgbClr val="1155CC"/>
              </a:solidFill>
              <a:latin typeface="Lexend"/>
              <a:ea typeface="Lexend"/>
              <a:cs typeface="Lexend"/>
              <a:sym typeface="Lexend"/>
            </a:endParaRPr>
          </a:p>
        </p:txBody>
      </p:sp>
      <p:sp>
        <p:nvSpPr>
          <p:cNvPr id="196" name="Google Shape;196;p15"/>
          <p:cNvSpPr txBox="1"/>
          <p:nvPr/>
        </p:nvSpPr>
        <p:spPr>
          <a:xfrm>
            <a:off x="11150472" y="3533114"/>
            <a:ext cx="6078000" cy="49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Fixed Coding Sessions (124)</a:t>
            </a:r>
            <a:endParaRPr sz="2000">
              <a:solidFill>
                <a:srgbClr val="1155CC"/>
              </a:solidFill>
              <a:latin typeface="Lexend"/>
              <a:ea typeface="Lexend"/>
              <a:cs typeface="Lexend"/>
              <a:sym typeface="Lexend"/>
            </a:endParaRPr>
          </a:p>
        </p:txBody>
      </p:sp>
      <p:sp>
        <p:nvSpPr>
          <p:cNvPr id="197" name="Google Shape;197;p15"/>
          <p:cNvSpPr txBox="1"/>
          <p:nvPr/>
        </p:nvSpPr>
        <p:spPr>
          <a:xfrm>
            <a:off x="6337824" y="2350039"/>
            <a:ext cx="43170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Subjects Count</a:t>
            </a:r>
            <a:endParaRPr b="1" sz="2000">
              <a:solidFill>
                <a:schemeClr val="dk1"/>
              </a:solidFill>
              <a:latin typeface="Rajdhani"/>
              <a:ea typeface="Rajdhani"/>
              <a:cs typeface="Rajdhani"/>
              <a:sym typeface="Rajdhani"/>
            </a:endParaRPr>
          </a:p>
        </p:txBody>
      </p:sp>
      <p:cxnSp>
        <p:nvCxnSpPr>
          <p:cNvPr id="198" name="Google Shape;198;p15"/>
          <p:cNvCxnSpPr/>
          <p:nvPr/>
        </p:nvCxnSpPr>
        <p:spPr>
          <a:xfrm>
            <a:off x="6337835" y="5708482"/>
            <a:ext cx="9174000" cy="0"/>
          </a:xfrm>
          <a:prstGeom prst="straightConnector1">
            <a:avLst/>
          </a:prstGeom>
          <a:noFill/>
          <a:ln cap="flat" cmpd="sng" w="19050">
            <a:solidFill>
              <a:srgbClr val="000000"/>
            </a:solidFill>
            <a:prstDash val="solid"/>
            <a:round/>
            <a:headEnd len="med" w="med" type="none"/>
            <a:tailEnd len="med" w="med" type="none"/>
          </a:ln>
        </p:spPr>
      </p:cxnSp>
      <p:sp>
        <p:nvSpPr>
          <p:cNvPr id="199" name="Google Shape;199;p15"/>
          <p:cNvSpPr txBox="1"/>
          <p:nvPr/>
        </p:nvSpPr>
        <p:spPr>
          <a:xfrm>
            <a:off x="8381969" y="6053469"/>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FF9900"/>
                </a:solidFill>
                <a:latin typeface="Rajdhani"/>
                <a:ea typeface="Rajdhani"/>
                <a:cs typeface="Rajdhani"/>
                <a:sym typeface="Rajdhani"/>
              </a:rPr>
              <a:t>1</a:t>
            </a:r>
            <a:endParaRPr sz="2000">
              <a:solidFill>
                <a:srgbClr val="FF9900"/>
              </a:solidFill>
              <a:latin typeface="Lato"/>
              <a:ea typeface="Lato"/>
              <a:cs typeface="Lato"/>
              <a:sym typeface="Lato"/>
            </a:endParaRPr>
          </a:p>
        </p:txBody>
      </p:sp>
      <p:sp>
        <p:nvSpPr>
          <p:cNvPr id="200" name="Google Shape;200;p15"/>
          <p:cNvSpPr txBox="1"/>
          <p:nvPr/>
        </p:nvSpPr>
        <p:spPr>
          <a:xfrm>
            <a:off x="6154019" y="6603169"/>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FF9900"/>
                </a:solidFill>
                <a:latin typeface="Lexend"/>
                <a:ea typeface="Lexend"/>
                <a:cs typeface="Lexend"/>
                <a:sym typeface="Lexend"/>
              </a:rPr>
              <a:t>2nd-half</a:t>
            </a:r>
            <a:endParaRPr b="1" sz="2000">
              <a:solidFill>
                <a:srgbClr val="FF9900"/>
              </a:solidFill>
              <a:latin typeface="Lexend"/>
              <a:ea typeface="Lexend"/>
              <a:cs typeface="Lexend"/>
              <a:sym typeface="Lexend"/>
            </a:endParaRPr>
          </a:p>
        </p:txBody>
      </p:sp>
      <p:sp>
        <p:nvSpPr>
          <p:cNvPr id="201" name="Google Shape;201;p15"/>
          <p:cNvSpPr txBox="1"/>
          <p:nvPr/>
        </p:nvSpPr>
        <p:spPr>
          <a:xfrm>
            <a:off x="11196752" y="6024964"/>
            <a:ext cx="6078000" cy="49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FF9900"/>
                </a:solidFill>
                <a:latin typeface="Lexend"/>
                <a:ea typeface="Lexend"/>
                <a:cs typeface="Lexend"/>
                <a:sym typeface="Lexend"/>
              </a:rPr>
              <a:t>Fixed Coding Sessions (178)</a:t>
            </a:r>
            <a:endParaRPr sz="2000">
              <a:solidFill>
                <a:srgbClr val="FF9900"/>
              </a:solidFill>
              <a:latin typeface="Lexend"/>
              <a:ea typeface="Lexend"/>
              <a:cs typeface="Lexend"/>
              <a:sym typeface="Lexend"/>
            </a:endParaRPr>
          </a:p>
        </p:txBody>
      </p:sp>
      <p:cxnSp>
        <p:nvCxnSpPr>
          <p:cNvPr id="202" name="Google Shape;202;p15"/>
          <p:cNvCxnSpPr/>
          <p:nvPr/>
        </p:nvCxnSpPr>
        <p:spPr>
          <a:xfrm>
            <a:off x="6337835" y="3005829"/>
            <a:ext cx="9174000" cy="0"/>
          </a:xfrm>
          <a:prstGeom prst="straightConnector1">
            <a:avLst/>
          </a:prstGeom>
          <a:noFill/>
          <a:ln cap="flat" cmpd="sng" w="28575">
            <a:solidFill>
              <a:srgbClr val="000000"/>
            </a:solidFill>
            <a:prstDash val="solid"/>
            <a:round/>
            <a:headEnd len="med" w="med" type="none"/>
            <a:tailEnd len="med" w="med" type="none"/>
          </a:ln>
        </p:spPr>
      </p:cxnSp>
      <p:sp>
        <p:nvSpPr>
          <p:cNvPr id="203" name="Google Shape;203;p15"/>
          <p:cNvSpPr/>
          <p:nvPr/>
        </p:nvSpPr>
        <p:spPr>
          <a:xfrm>
            <a:off x="1014079" y="3284569"/>
            <a:ext cx="4715609" cy="4847824"/>
          </a:xfrm>
          <a:custGeom>
            <a:rect b="b" l="l" r="r" t="t"/>
            <a:pathLst>
              <a:path extrusionOk="0" h="1463494" w="1423580">
                <a:moveTo>
                  <a:pt x="0" y="0"/>
                </a:moveTo>
                <a:lnTo>
                  <a:pt x="1423580" y="0"/>
                </a:lnTo>
                <a:lnTo>
                  <a:pt x="1423580" y="1463494"/>
                </a:lnTo>
                <a:lnTo>
                  <a:pt x="0" y="1463494"/>
                </a:lnTo>
                <a:lnTo>
                  <a:pt x="0" y="0"/>
                </a:lnTo>
                <a:close/>
              </a:path>
            </a:pathLst>
          </a:custGeom>
          <a:blipFill rotWithShape="1">
            <a:blip r:embed="rId3">
              <a:alphaModFix/>
            </a:blip>
            <a:stretch>
              <a:fillRect b="0" l="0" r="0" t="0"/>
            </a:stretch>
          </a:blipFill>
          <a:ln>
            <a:noFill/>
          </a:ln>
        </p:spPr>
      </p:sp>
      <p:cxnSp>
        <p:nvCxnSpPr>
          <p:cNvPr id="204" name="Google Shape;204;p15"/>
          <p:cNvCxnSpPr/>
          <p:nvPr/>
        </p:nvCxnSpPr>
        <p:spPr>
          <a:xfrm>
            <a:off x="6337825" y="8227110"/>
            <a:ext cx="9174000" cy="0"/>
          </a:xfrm>
          <a:prstGeom prst="straightConnector1">
            <a:avLst/>
          </a:prstGeom>
          <a:noFill/>
          <a:ln cap="flat" cmpd="sng" w="9525">
            <a:solidFill>
              <a:schemeClr val="dk1"/>
            </a:solidFill>
            <a:prstDash val="solid"/>
            <a:round/>
            <a:headEnd len="med" w="med" type="none"/>
            <a:tailEnd len="med" w="med" type="none"/>
          </a:ln>
        </p:spPr>
      </p:cxnSp>
      <p:sp>
        <p:nvSpPr>
          <p:cNvPr id="205" name="Google Shape;205;p15"/>
          <p:cNvSpPr txBox="1"/>
          <p:nvPr/>
        </p:nvSpPr>
        <p:spPr>
          <a:xfrm>
            <a:off x="820150" y="1567650"/>
            <a:ext cx="16408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Every activity delivered in the past terms stemmed from how the school structured coding within its curriculum. </a:t>
            </a:r>
            <a:endParaRPr>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6"/>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b="1" lang="en-US" sz="2400">
                <a:solidFill>
                  <a:schemeClr val="dk1"/>
                </a:solidFill>
                <a:latin typeface="Lato"/>
                <a:ea typeface="Lato"/>
                <a:cs typeface="Lato"/>
                <a:sym typeface="Lato"/>
              </a:rPr>
              <a:t>Subject Integration / Coding Anchor Subjects</a:t>
            </a:r>
            <a:endParaRPr b="1" sz="2400">
              <a:solidFill>
                <a:schemeClr val="dk1"/>
              </a:solidFill>
              <a:latin typeface="Lato"/>
              <a:ea typeface="Lato"/>
              <a:cs typeface="Lato"/>
              <a:sym typeface="Lato"/>
            </a:endParaRPr>
          </a:p>
          <a:p>
            <a:pPr indent="0" lvl="0" marL="0" rtl="0" algn="r">
              <a:spcBef>
                <a:spcPts val="0"/>
              </a:spcBef>
              <a:spcAft>
                <a:spcPts val="0"/>
              </a:spcAft>
              <a:buNone/>
            </a:pPr>
            <a:r>
              <a:t/>
            </a:r>
            <a:endParaRPr b="1" sz="2400">
              <a:solidFill>
                <a:schemeClr val="dk1"/>
              </a:solidFill>
              <a:latin typeface="Lato"/>
              <a:ea typeface="Lato"/>
              <a:cs typeface="Lato"/>
              <a:sym typeface="Lato"/>
            </a:endParaRPr>
          </a:p>
        </p:txBody>
      </p:sp>
      <p:sp>
        <p:nvSpPr>
          <p:cNvPr id="211" name="Google Shape;211;p16"/>
          <p:cNvSpPr txBox="1"/>
          <p:nvPr/>
        </p:nvSpPr>
        <p:spPr>
          <a:xfrm>
            <a:off x="11150485" y="2131718"/>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Subject/s Involved</a:t>
            </a:r>
            <a:endParaRPr b="1" sz="2000">
              <a:solidFill>
                <a:schemeClr val="dk1"/>
              </a:solidFill>
              <a:latin typeface="Rajdhani"/>
              <a:ea typeface="Rajdhani"/>
              <a:cs typeface="Rajdhani"/>
              <a:sym typeface="Rajdhani"/>
            </a:endParaRPr>
          </a:p>
        </p:txBody>
      </p:sp>
      <p:sp>
        <p:nvSpPr>
          <p:cNvPr id="212" name="Google Shape;212;p16"/>
          <p:cNvSpPr txBox="1"/>
          <p:nvPr/>
        </p:nvSpPr>
        <p:spPr>
          <a:xfrm>
            <a:off x="6384401" y="7369225"/>
            <a:ext cx="10783500" cy="11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Coding at </a:t>
            </a:r>
            <a:r>
              <a:rPr b="1" lang="en-US" sz="2200">
                <a:solidFill>
                  <a:srgbClr val="1155CC"/>
                </a:solidFill>
                <a:latin typeface="Lexend"/>
                <a:ea typeface="Lexend"/>
                <a:cs typeface="Lexend"/>
                <a:sym typeface="Lexend"/>
              </a:rPr>
              <a:t>Colegio de la Immaculada Concepcion - Gorordo</a:t>
            </a:r>
            <a:r>
              <a:rPr b="1" lang="en-US" sz="2200">
                <a:solidFill>
                  <a:srgbClr val="1155CC"/>
                </a:solidFill>
                <a:latin typeface="Lexend"/>
                <a:ea typeface="Lexend"/>
                <a:cs typeface="Lexend"/>
                <a:sym typeface="Lexend"/>
              </a:rPr>
              <a:t> </a:t>
            </a:r>
            <a:r>
              <a:rPr lang="en-US" sz="2200">
                <a:solidFill>
                  <a:schemeClr val="dk1"/>
                </a:solidFill>
                <a:latin typeface="Lexend"/>
                <a:ea typeface="Lexend"/>
                <a:cs typeface="Lexend"/>
                <a:sym typeface="Lexend"/>
              </a:rPr>
              <a:t>was integrated across multiple subjects, allowing learners to apply computational thinking within different learning contexts and meaningfully deepen their cross‑disciplinary skills all year.</a:t>
            </a:r>
            <a:endParaRPr sz="2200">
              <a:solidFill>
                <a:schemeClr val="dk1"/>
              </a:solidFill>
              <a:latin typeface="Lexend"/>
              <a:ea typeface="Lexend"/>
              <a:cs typeface="Lexend"/>
              <a:sym typeface="Lexend"/>
            </a:endParaRPr>
          </a:p>
        </p:txBody>
      </p:sp>
      <p:sp>
        <p:nvSpPr>
          <p:cNvPr id="213" name="Google Shape;213;p16"/>
          <p:cNvSpPr txBox="1"/>
          <p:nvPr/>
        </p:nvSpPr>
        <p:spPr>
          <a:xfrm>
            <a:off x="8335710" y="3343293"/>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1155CC"/>
                </a:solidFill>
                <a:latin typeface="Rajdhani"/>
                <a:ea typeface="Rajdhani"/>
                <a:cs typeface="Rajdhani"/>
                <a:sym typeface="Rajdhani"/>
              </a:rPr>
              <a:t>1</a:t>
            </a:r>
            <a:endParaRPr sz="2000">
              <a:solidFill>
                <a:srgbClr val="1155CC"/>
              </a:solidFill>
              <a:latin typeface="Lato"/>
              <a:ea typeface="Lato"/>
              <a:cs typeface="Lato"/>
              <a:sym typeface="Lato"/>
            </a:endParaRPr>
          </a:p>
        </p:txBody>
      </p:sp>
      <p:sp>
        <p:nvSpPr>
          <p:cNvPr id="214" name="Google Shape;214;p16"/>
          <p:cNvSpPr txBox="1"/>
          <p:nvPr/>
        </p:nvSpPr>
        <p:spPr>
          <a:xfrm>
            <a:off x="6107760" y="3892993"/>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Year-end</a:t>
            </a:r>
            <a:endParaRPr b="1" sz="2000">
              <a:solidFill>
                <a:srgbClr val="1155CC"/>
              </a:solidFill>
              <a:latin typeface="Lexend"/>
              <a:ea typeface="Lexend"/>
              <a:cs typeface="Lexend"/>
              <a:sym typeface="Lexend"/>
            </a:endParaRPr>
          </a:p>
        </p:txBody>
      </p:sp>
      <p:sp>
        <p:nvSpPr>
          <p:cNvPr id="215" name="Google Shape;215;p16"/>
          <p:cNvSpPr txBox="1"/>
          <p:nvPr/>
        </p:nvSpPr>
        <p:spPr>
          <a:xfrm>
            <a:off x="11150485" y="3314793"/>
            <a:ext cx="4562100" cy="49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Fixed Coding Sessions (302)</a:t>
            </a:r>
            <a:endParaRPr sz="2000">
              <a:solidFill>
                <a:srgbClr val="1155CC"/>
              </a:solidFill>
              <a:latin typeface="Lexend"/>
              <a:ea typeface="Lexend"/>
              <a:cs typeface="Lexend"/>
              <a:sym typeface="Lexend"/>
            </a:endParaRPr>
          </a:p>
        </p:txBody>
      </p:sp>
      <p:sp>
        <p:nvSpPr>
          <p:cNvPr id="216" name="Google Shape;216;p16"/>
          <p:cNvSpPr txBox="1"/>
          <p:nvPr/>
        </p:nvSpPr>
        <p:spPr>
          <a:xfrm>
            <a:off x="6337824" y="2131725"/>
            <a:ext cx="43170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Subjects Count</a:t>
            </a:r>
            <a:endParaRPr b="1" sz="2000">
              <a:solidFill>
                <a:schemeClr val="dk1"/>
              </a:solidFill>
              <a:latin typeface="Rajdhani"/>
              <a:ea typeface="Rajdhani"/>
              <a:cs typeface="Rajdhani"/>
              <a:sym typeface="Rajdhani"/>
            </a:endParaRPr>
          </a:p>
        </p:txBody>
      </p:sp>
      <p:cxnSp>
        <p:nvCxnSpPr>
          <p:cNvPr id="217" name="Google Shape;217;p16"/>
          <p:cNvCxnSpPr/>
          <p:nvPr/>
        </p:nvCxnSpPr>
        <p:spPr>
          <a:xfrm>
            <a:off x="6337835" y="2787514"/>
            <a:ext cx="9174000" cy="0"/>
          </a:xfrm>
          <a:prstGeom prst="straightConnector1">
            <a:avLst/>
          </a:prstGeom>
          <a:noFill/>
          <a:ln cap="flat" cmpd="sng" w="28575">
            <a:solidFill>
              <a:srgbClr val="000000"/>
            </a:solidFill>
            <a:prstDash val="solid"/>
            <a:round/>
            <a:headEnd len="med" w="med" type="none"/>
            <a:tailEnd len="med" w="med" type="none"/>
          </a:ln>
        </p:spPr>
      </p:cxnSp>
      <p:sp>
        <p:nvSpPr>
          <p:cNvPr id="218" name="Google Shape;218;p16"/>
          <p:cNvSpPr/>
          <p:nvPr/>
        </p:nvSpPr>
        <p:spPr>
          <a:xfrm>
            <a:off x="1014079" y="3066255"/>
            <a:ext cx="4715609" cy="4847824"/>
          </a:xfrm>
          <a:custGeom>
            <a:rect b="b" l="l" r="r" t="t"/>
            <a:pathLst>
              <a:path extrusionOk="0" h="1463494" w="1423580">
                <a:moveTo>
                  <a:pt x="0" y="0"/>
                </a:moveTo>
                <a:lnTo>
                  <a:pt x="1423580" y="0"/>
                </a:lnTo>
                <a:lnTo>
                  <a:pt x="1423580" y="1463494"/>
                </a:lnTo>
                <a:lnTo>
                  <a:pt x="0" y="1463494"/>
                </a:lnTo>
                <a:lnTo>
                  <a:pt x="0" y="0"/>
                </a:lnTo>
                <a:close/>
              </a:path>
            </a:pathLst>
          </a:custGeom>
          <a:blipFill rotWithShape="1">
            <a:blip r:embed="rId3">
              <a:alphaModFix/>
            </a:blip>
            <a:stretch>
              <a:fillRect b="0" l="0" r="0" t="0"/>
            </a:stretch>
          </a:blipFill>
          <a:ln>
            <a:noFill/>
          </a:ln>
        </p:spPr>
      </p:sp>
      <p:cxnSp>
        <p:nvCxnSpPr>
          <p:cNvPr id="219" name="Google Shape;219;p16"/>
          <p:cNvCxnSpPr/>
          <p:nvPr/>
        </p:nvCxnSpPr>
        <p:spPr>
          <a:xfrm>
            <a:off x="6384410" y="6908892"/>
            <a:ext cx="9174000" cy="0"/>
          </a:xfrm>
          <a:prstGeom prst="straightConnector1">
            <a:avLst/>
          </a:prstGeom>
          <a:noFill/>
          <a:ln cap="flat" cmpd="sng" w="19050">
            <a:solidFill>
              <a:srgbClr val="000000"/>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Coding Session Modalities</a:t>
            </a:r>
            <a:endParaRPr b="1" sz="2400">
              <a:solidFill>
                <a:schemeClr val="dk1"/>
              </a:solidFill>
              <a:latin typeface="Lato"/>
              <a:ea typeface="Lato"/>
              <a:cs typeface="Lato"/>
              <a:sym typeface="Lato"/>
            </a:endParaRPr>
          </a:p>
        </p:txBody>
      </p:sp>
      <p:sp>
        <p:nvSpPr>
          <p:cNvPr id="225" name="Google Shape;225;p17"/>
          <p:cNvSpPr txBox="1"/>
          <p:nvPr/>
        </p:nvSpPr>
        <p:spPr>
          <a:xfrm>
            <a:off x="1547525" y="8169392"/>
            <a:ext cx="15781500" cy="13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Most coding sessions this school year were conducted in the ACE Hub.  To maximize coding opportunities next year, the school may explore a fuller mix of modalities, combining ACE Hub sessions with classroom-based or online activities to sustain learning even during tight schedules or shifting conditions. </a:t>
            </a:r>
            <a:endParaRPr sz="2200">
              <a:solidFill>
                <a:schemeClr val="dk1"/>
              </a:solidFill>
              <a:latin typeface="Lexend"/>
              <a:ea typeface="Lexend"/>
              <a:cs typeface="Lexend"/>
              <a:sym typeface="Lexend"/>
            </a:endParaRPr>
          </a:p>
        </p:txBody>
      </p:sp>
      <p:sp>
        <p:nvSpPr>
          <p:cNvPr id="226" name="Google Shape;226;p17"/>
          <p:cNvSpPr/>
          <p:nvPr/>
        </p:nvSpPr>
        <p:spPr>
          <a:xfrm>
            <a:off x="12383803" y="1896339"/>
            <a:ext cx="4172825" cy="5976705"/>
          </a:xfrm>
          <a:custGeom>
            <a:rect b="b" l="l" r="r" t="t"/>
            <a:pathLst>
              <a:path extrusionOk="0" h="1189394" w="830413">
                <a:moveTo>
                  <a:pt x="0" y="0"/>
                </a:moveTo>
                <a:lnTo>
                  <a:pt x="830414" y="0"/>
                </a:lnTo>
                <a:lnTo>
                  <a:pt x="830414" y="1189393"/>
                </a:lnTo>
                <a:lnTo>
                  <a:pt x="0" y="1189393"/>
                </a:lnTo>
                <a:lnTo>
                  <a:pt x="0" y="0"/>
                </a:lnTo>
                <a:close/>
              </a:path>
            </a:pathLst>
          </a:custGeom>
          <a:blipFill rotWithShape="1">
            <a:blip r:embed="rId3">
              <a:alphaModFix/>
            </a:blip>
            <a:stretch>
              <a:fillRect b="0" l="0" r="0" t="0"/>
            </a:stretch>
          </a:blipFill>
          <a:ln>
            <a:noFill/>
          </a:ln>
        </p:spPr>
      </p:sp>
      <p:sp>
        <p:nvSpPr>
          <p:cNvPr id="227" name="Google Shape;227;p17"/>
          <p:cNvSpPr txBox="1"/>
          <p:nvPr/>
        </p:nvSpPr>
        <p:spPr>
          <a:xfrm>
            <a:off x="3957024" y="3710047"/>
            <a:ext cx="6044100" cy="61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800">
                <a:solidFill>
                  <a:srgbClr val="1155CC"/>
                </a:solidFill>
                <a:latin typeface="Lexend"/>
                <a:ea typeface="Lexend"/>
                <a:cs typeface="Lexend"/>
                <a:sym typeface="Lexend"/>
              </a:rPr>
              <a:t>Com Lab (365)</a:t>
            </a:r>
            <a:endParaRPr b="1" sz="28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b="1" lang="en-US" sz="2800">
                <a:solidFill>
                  <a:srgbClr val="1155CC"/>
                </a:solidFill>
                <a:latin typeface="Lexend"/>
                <a:ea typeface="Lexend"/>
                <a:cs typeface="Lexend"/>
                <a:sym typeface="Lexend"/>
              </a:rPr>
              <a:t>Classroom (6)</a:t>
            </a:r>
            <a:endParaRPr b="1" sz="2800">
              <a:solidFill>
                <a:srgbClr val="1155CC"/>
              </a:solidFill>
              <a:latin typeface="Lexend"/>
              <a:ea typeface="Lexend"/>
              <a:cs typeface="Lexend"/>
              <a:sym typeface="Lexend"/>
            </a:endParaRPr>
          </a:p>
        </p:txBody>
      </p:sp>
      <p:pic>
        <p:nvPicPr>
          <p:cNvPr id="228" name="Google Shape;228;p17"/>
          <p:cNvPicPr preferRelativeResize="0"/>
          <p:nvPr/>
        </p:nvPicPr>
        <p:blipFill>
          <a:blip r:embed="rId4">
            <a:alphaModFix/>
          </a:blip>
          <a:stretch>
            <a:fillRect/>
          </a:stretch>
        </p:blipFill>
        <p:spPr>
          <a:xfrm>
            <a:off x="2158249" y="4884831"/>
            <a:ext cx="1124712" cy="1124712"/>
          </a:xfrm>
          <a:prstGeom prst="rect">
            <a:avLst/>
          </a:prstGeom>
          <a:noFill/>
          <a:ln>
            <a:noFill/>
          </a:ln>
        </p:spPr>
      </p:pic>
      <p:pic>
        <p:nvPicPr>
          <p:cNvPr id="229" name="Google Shape;229;p17"/>
          <p:cNvPicPr preferRelativeResize="0"/>
          <p:nvPr/>
        </p:nvPicPr>
        <p:blipFill>
          <a:blip r:embed="rId5">
            <a:alphaModFix/>
          </a:blip>
          <a:stretch>
            <a:fillRect/>
          </a:stretch>
        </p:blipFill>
        <p:spPr>
          <a:xfrm>
            <a:off x="2171961" y="6414447"/>
            <a:ext cx="1097280" cy="1097280"/>
          </a:xfrm>
          <a:prstGeom prst="rect">
            <a:avLst/>
          </a:prstGeom>
          <a:noFill/>
          <a:ln>
            <a:noFill/>
          </a:ln>
        </p:spPr>
      </p:pic>
      <p:pic>
        <p:nvPicPr>
          <p:cNvPr id="230" name="Google Shape;230;p17"/>
          <p:cNvPicPr preferRelativeResize="0"/>
          <p:nvPr/>
        </p:nvPicPr>
        <p:blipFill>
          <a:blip r:embed="rId6">
            <a:alphaModFix/>
          </a:blip>
          <a:stretch>
            <a:fillRect/>
          </a:stretch>
        </p:blipFill>
        <p:spPr>
          <a:xfrm>
            <a:off x="2185661" y="3382647"/>
            <a:ext cx="1097280" cy="1097280"/>
          </a:xfrm>
          <a:prstGeom prst="rect">
            <a:avLst/>
          </a:prstGeom>
          <a:noFill/>
          <a:ln>
            <a:noFill/>
          </a:ln>
        </p:spPr>
      </p:pic>
      <p:sp>
        <p:nvSpPr>
          <p:cNvPr id="231" name="Google Shape;231;p17"/>
          <p:cNvSpPr txBox="1"/>
          <p:nvPr/>
        </p:nvSpPr>
        <p:spPr>
          <a:xfrm>
            <a:off x="1547525" y="1896350"/>
            <a:ext cx="9872100" cy="119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200"/>
              </a:spcBef>
              <a:spcAft>
                <a:spcPts val="0"/>
              </a:spcAft>
              <a:buNone/>
            </a:pPr>
            <a:r>
              <a:rPr lang="en-US" sz="2200">
                <a:solidFill>
                  <a:schemeClr val="dk1"/>
                </a:solidFill>
                <a:latin typeface="Lexend"/>
                <a:ea typeface="Lexend"/>
                <a:cs typeface="Lexend"/>
                <a:sym typeface="Lexend"/>
              </a:rPr>
              <a:t>Subject scheduling shaped how learners accessed coding. </a:t>
            </a:r>
            <a:endParaRPr sz="2200">
              <a:solidFill>
                <a:schemeClr val="dk1"/>
              </a:solidFill>
              <a:latin typeface="Lexend"/>
              <a:ea typeface="Lexend"/>
              <a:cs typeface="Lexend"/>
              <a:sym typeface="Lexend"/>
            </a:endParaRPr>
          </a:p>
          <a:p>
            <a:pPr indent="0" lvl="0" marL="0" rtl="0" algn="l">
              <a:lnSpc>
                <a:spcPct val="115000"/>
              </a:lnSpc>
              <a:spcBef>
                <a:spcPts val="2200"/>
              </a:spcBef>
              <a:spcAft>
                <a:spcPts val="2200"/>
              </a:spcAft>
              <a:buNone/>
            </a:pPr>
            <a:r>
              <a:rPr lang="en-US" sz="2200">
                <a:solidFill>
                  <a:schemeClr val="dk1"/>
                </a:solidFill>
                <a:latin typeface="Lexend"/>
                <a:ea typeface="Lexend"/>
                <a:cs typeface="Lexend"/>
                <a:sym typeface="Lexend"/>
              </a:rPr>
              <a:t>Here’s how sessions were delivered this year.</a:t>
            </a:r>
            <a:endParaRPr sz="2200">
              <a:solidFill>
                <a:schemeClr val="dk1"/>
              </a:solidFill>
              <a:latin typeface="Lexend"/>
              <a:ea typeface="Lexend"/>
              <a:cs typeface="Lexend"/>
              <a:sym typeface="Lexend"/>
            </a:endParaRPr>
          </a:p>
        </p:txBody>
      </p:sp>
      <p:pic>
        <p:nvPicPr>
          <p:cNvPr id="232" name="Google Shape;232;p17"/>
          <p:cNvPicPr preferRelativeResize="0"/>
          <p:nvPr/>
        </p:nvPicPr>
        <p:blipFill>
          <a:blip r:embed="rId7">
            <a:alphaModFix/>
          </a:blip>
          <a:stretch>
            <a:fillRect/>
          </a:stretch>
        </p:blipFill>
        <p:spPr>
          <a:xfrm>
            <a:off x="-1784302" y="3677709"/>
            <a:ext cx="3295866" cy="353894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8"/>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Computational Artifacts Created</a:t>
            </a:r>
            <a:endParaRPr b="1" sz="2400">
              <a:solidFill>
                <a:schemeClr val="dk1"/>
              </a:solidFill>
              <a:latin typeface="Lato"/>
              <a:ea typeface="Lato"/>
              <a:cs typeface="Lato"/>
              <a:sym typeface="Lato"/>
            </a:endParaRPr>
          </a:p>
        </p:txBody>
      </p:sp>
      <p:sp>
        <p:nvSpPr>
          <p:cNvPr id="238" name="Google Shape;238;p18"/>
          <p:cNvSpPr/>
          <p:nvPr/>
        </p:nvSpPr>
        <p:spPr>
          <a:xfrm>
            <a:off x="1150892" y="4091872"/>
            <a:ext cx="3476400" cy="3474600"/>
          </a:xfrm>
          <a:prstGeom prst="roundRect">
            <a:avLst>
              <a:gd fmla="val 4778" name="adj"/>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18"/>
          <p:cNvSpPr/>
          <p:nvPr/>
        </p:nvSpPr>
        <p:spPr>
          <a:xfrm>
            <a:off x="13509365" y="4091872"/>
            <a:ext cx="3476400" cy="3474600"/>
          </a:xfrm>
          <a:prstGeom prst="roundRect">
            <a:avLst>
              <a:gd fmla="val 4778"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18"/>
          <p:cNvSpPr txBox="1"/>
          <p:nvPr/>
        </p:nvSpPr>
        <p:spPr>
          <a:xfrm>
            <a:off x="1063325" y="3134852"/>
            <a:ext cx="3682500" cy="512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rgbClr val="ED7D31"/>
                </a:solidFill>
                <a:latin typeface="Rajdhani"/>
                <a:ea typeface="Rajdhani"/>
                <a:cs typeface="Rajdhani"/>
                <a:sym typeface="Rajdhani"/>
              </a:rPr>
              <a:t>Projects Type Count</a:t>
            </a:r>
            <a:endParaRPr b="1" sz="2400">
              <a:solidFill>
                <a:srgbClr val="ED7D31"/>
              </a:solidFill>
              <a:latin typeface="Rajdhani"/>
              <a:ea typeface="Rajdhani"/>
              <a:cs typeface="Rajdhani"/>
              <a:sym typeface="Rajdhani"/>
            </a:endParaRPr>
          </a:p>
        </p:txBody>
      </p:sp>
      <p:sp>
        <p:nvSpPr>
          <p:cNvPr id="241" name="Google Shape;241;p18"/>
          <p:cNvSpPr txBox="1"/>
          <p:nvPr/>
        </p:nvSpPr>
        <p:spPr>
          <a:xfrm>
            <a:off x="13509365" y="2846856"/>
            <a:ext cx="3476400" cy="800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Total </a:t>
            </a:r>
            <a:r>
              <a:rPr b="1" lang="en-US" sz="2400">
                <a:solidFill>
                  <a:srgbClr val="1155CC"/>
                </a:solidFill>
                <a:latin typeface="Rajdhani"/>
                <a:ea typeface="Rajdhani"/>
                <a:cs typeface="Rajdhani"/>
                <a:sym typeface="Rajdhani"/>
              </a:rPr>
              <a:t>Computational Artifacts Created</a:t>
            </a:r>
            <a:endParaRPr b="1" sz="2400">
              <a:solidFill>
                <a:srgbClr val="1155CC"/>
              </a:solidFill>
              <a:latin typeface="Rajdhani"/>
              <a:ea typeface="Rajdhani"/>
              <a:cs typeface="Rajdhani"/>
              <a:sym typeface="Rajdhani"/>
            </a:endParaRPr>
          </a:p>
        </p:txBody>
      </p:sp>
      <p:sp>
        <p:nvSpPr>
          <p:cNvPr id="242" name="Google Shape;242;p18"/>
          <p:cNvSpPr txBox="1"/>
          <p:nvPr/>
        </p:nvSpPr>
        <p:spPr>
          <a:xfrm>
            <a:off x="1150892" y="4832572"/>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3100">
              <a:solidFill>
                <a:schemeClr val="lt1"/>
              </a:solidFill>
              <a:latin typeface="Lato"/>
              <a:ea typeface="Lato"/>
              <a:cs typeface="Lato"/>
              <a:sym typeface="Lato"/>
            </a:endParaRPr>
          </a:p>
        </p:txBody>
      </p:sp>
      <p:sp>
        <p:nvSpPr>
          <p:cNvPr id="243" name="Google Shape;243;p18"/>
          <p:cNvSpPr txBox="1"/>
          <p:nvPr/>
        </p:nvSpPr>
        <p:spPr>
          <a:xfrm>
            <a:off x="13509365" y="4832572"/>
            <a:ext cx="3476400" cy="199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10100">
                <a:solidFill>
                  <a:schemeClr val="lt1"/>
                </a:solidFill>
                <a:latin typeface="Rajdhani"/>
                <a:ea typeface="Rajdhani"/>
                <a:cs typeface="Rajdhani"/>
                <a:sym typeface="Rajdhani"/>
              </a:rPr>
              <a:t>26</a:t>
            </a:r>
            <a:endParaRPr b="1" sz="10100">
              <a:solidFill>
                <a:schemeClr val="lt1"/>
              </a:solidFill>
              <a:latin typeface="Rajdhani"/>
              <a:ea typeface="Rajdhani"/>
              <a:cs typeface="Rajdhani"/>
              <a:sym typeface="Rajdhani"/>
            </a:endParaRPr>
          </a:p>
        </p:txBody>
      </p:sp>
      <p:sp>
        <p:nvSpPr>
          <p:cNvPr id="244" name="Google Shape;244;p18"/>
          <p:cNvSpPr txBox="1"/>
          <p:nvPr/>
        </p:nvSpPr>
        <p:spPr>
          <a:xfrm>
            <a:off x="1150903" y="8082400"/>
            <a:ext cx="154392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200">
                <a:solidFill>
                  <a:schemeClr val="dk1"/>
                </a:solidFill>
                <a:latin typeface="Lexend"/>
                <a:ea typeface="Lexend"/>
                <a:cs typeface="Lexend"/>
                <a:sym typeface="Lexend"/>
              </a:rPr>
              <a:t>The artifacts created this year show that learners are moving from practice to purposeful creation—an important step in developing real-world digital skills.</a:t>
            </a:r>
            <a:endParaRPr sz="2200">
              <a:latin typeface="Lexend"/>
              <a:ea typeface="Lexend"/>
              <a:cs typeface="Lexend"/>
              <a:sym typeface="Lexend"/>
            </a:endParaRPr>
          </a:p>
        </p:txBody>
      </p:sp>
      <p:sp>
        <p:nvSpPr>
          <p:cNvPr id="245" name="Google Shape;245;p18"/>
          <p:cNvSpPr txBox="1"/>
          <p:nvPr/>
        </p:nvSpPr>
        <p:spPr>
          <a:xfrm>
            <a:off x="1150900" y="1782025"/>
            <a:ext cx="154581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200"/>
              </a:spcBef>
              <a:spcAft>
                <a:spcPts val="2200"/>
              </a:spcAft>
              <a:buNone/>
            </a:pPr>
            <a:r>
              <a:rPr lang="en-US" sz="2200">
                <a:solidFill>
                  <a:schemeClr val="dk1"/>
                </a:solidFill>
                <a:latin typeface="Lexend"/>
                <a:ea typeface="Lexend"/>
                <a:cs typeface="Lexend"/>
                <a:sym typeface="Lexend"/>
              </a:rPr>
              <a:t>From how they learned to what they created — here’s a look at the projects and computational artifacts produced this school year.</a:t>
            </a:r>
            <a:endParaRPr sz="2200">
              <a:solidFill>
                <a:schemeClr val="dk1"/>
              </a:solidFill>
              <a:latin typeface="Lexend"/>
              <a:ea typeface="Lexend"/>
              <a:cs typeface="Lexend"/>
              <a:sym typeface="Lexend"/>
            </a:endParaRPr>
          </a:p>
        </p:txBody>
      </p:sp>
      <p:sp>
        <p:nvSpPr>
          <p:cNvPr id="246" name="Google Shape;246;p18"/>
          <p:cNvSpPr/>
          <p:nvPr/>
        </p:nvSpPr>
        <p:spPr>
          <a:xfrm>
            <a:off x="5358529" y="4091871"/>
            <a:ext cx="7419600" cy="3474600"/>
          </a:xfrm>
          <a:prstGeom prst="roundRect">
            <a:avLst>
              <a:gd fmla="val 4778" name="adj"/>
            </a:avLst>
          </a:prstGeom>
          <a:solidFill>
            <a:srgbClr val="C9DAF8"/>
          </a:solidFill>
          <a:ln>
            <a:noFill/>
          </a:ln>
        </p:spPr>
        <p:txBody>
          <a:bodyPr anchorCtr="0" anchor="ctr" bIns="91425" lIns="91425" spcFirstLastPara="1" rIns="91425" wrap="square" tIns="91425">
            <a:noAutofit/>
          </a:bodyPr>
          <a:lstStyle/>
          <a:p>
            <a:pPr indent="0" lvl="0" marL="342900" rtl="0" algn="l">
              <a:spcBef>
                <a:spcPts val="0"/>
              </a:spcBef>
              <a:spcAft>
                <a:spcPts val="0"/>
              </a:spcAft>
              <a:buClr>
                <a:schemeClr val="dk1"/>
              </a:buClr>
              <a:buSzPts val="1100"/>
              <a:buFont typeface="Arial"/>
              <a:buNone/>
            </a:pPr>
            <a:r>
              <a:t/>
            </a:r>
            <a:endParaRPr sz="2800">
              <a:solidFill>
                <a:schemeClr val="dk1"/>
              </a:solidFill>
              <a:latin typeface="Lexend"/>
              <a:ea typeface="Lexend"/>
              <a:cs typeface="Lexend"/>
              <a:sym typeface="Lexend"/>
            </a:endParaRPr>
          </a:p>
          <a:p>
            <a:pPr indent="0" lvl="0" marL="342900" rtl="0" algn="l">
              <a:lnSpc>
                <a:spcPct val="115000"/>
              </a:lnSpc>
              <a:spcBef>
                <a:spcPts val="0"/>
              </a:spcBef>
              <a:spcAft>
                <a:spcPts val="0"/>
              </a:spcAft>
              <a:buClr>
                <a:schemeClr val="dk1"/>
              </a:buClr>
              <a:buSzPts val="1100"/>
              <a:buFont typeface="Arial"/>
              <a:buNone/>
            </a:pPr>
            <a:r>
              <a:rPr b="1" lang="en-US" sz="2800">
                <a:solidFill>
                  <a:srgbClr val="1155CC"/>
                </a:solidFill>
                <a:latin typeface="Lexend"/>
                <a:ea typeface="Lexend"/>
                <a:cs typeface="Lexend"/>
                <a:sym typeface="Lexend"/>
              </a:rPr>
              <a:t>Interactive Storybook (17)</a:t>
            </a:r>
            <a:endParaRPr b="1" sz="2800">
              <a:solidFill>
                <a:srgbClr val="1155CC"/>
              </a:solidFill>
              <a:latin typeface="Lexend"/>
              <a:ea typeface="Lexend"/>
              <a:cs typeface="Lexend"/>
              <a:sym typeface="Lexend"/>
            </a:endParaRPr>
          </a:p>
          <a:p>
            <a:pPr indent="0" lvl="0" marL="342900" rtl="0" algn="l">
              <a:lnSpc>
                <a:spcPct val="115000"/>
              </a:lnSpc>
              <a:spcBef>
                <a:spcPts val="0"/>
              </a:spcBef>
              <a:spcAft>
                <a:spcPts val="0"/>
              </a:spcAft>
              <a:buClr>
                <a:schemeClr val="dk1"/>
              </a:buClr>
              <a:buSzPts val="1100"/>
              <a:buFont typeface="Arial"/>
              <a:buNone/>
            </a:pPr>
            <a:r>
              <a:rPr b="1" lang="en-US" sz="2800">
                <a:solidFill>
                  <a:srgbClr val="1155CC"/>
                </a:solidFill>
                <a:latin typeface="Lexend"/>
                <a:ea typeface="Lexend"/>
                <a:cs typeface="Lexend"/>
                <a:sym typeface="Lexend"/>
              </a:rPr>
              <a:t>Educational App (9)</a:t>
            </a:r>
            <a:endParaRPr sz="2800">
              <a:latin typeface="Lexend"/>
              <a:ea typeface="Lexend"/>
              <a:cs typeface="Lexend"/>
              <a:sym typeface="Lexend"/>
            </a:endParaRPr>
          </a:p>
        </p:txBody>
      </p:sp>
      <p:sp>
        <p:nvSpPr>
          <p:cNvPr id="247" name="Google Shape;247;p18"/>
          <p:cNvSpPr txBox="1"/>
          <p:nvPr/>
        </p:nvSpPr>
        <p:spPr>
          <a:xfrm>
            <a:off x="5358525" y="3134850"/>
            <a:ext cx="3418200" cy="512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155CC"/>
                </a:solidFill>
                <a:latin typeface="Rajdhani"/>
                <a:ea typeface="Rajdhani"/>
                <a:cs typeface="Rajdhani"/>
                <a:sym typeface="Rajdhani"/>
              </a:rPr>
              <a:t>Projects Created</a:t>
            </a:r>
            <a:endParaRPr b="1" sz="2400">
              <a:solidFill>
                <a:srgbClr val="1155CC"/>
              </a:solidFill>
              <a:latin typeface="Rajdhani"/>
              <a:ea typeface="Rajdhani"/>
              <a:cs typeface="Rajdhani"/>
              <a:sym typeface="Rajdhani"/>
            </a:endParaRPr>
          </a:p>
        </p:txBody>
      </p:sp>
      <p:sp>
        <p:nvSpPr>
          <p:cNvPr id="248" name="Google Shape;248;p18"/>
          <p:cNvSpPr txBox="1"/>
          <p:nvPr/>
        </p:nvSpPr>
        <p:spPr>
          <a:xfrm>
            <a:off x="1150892" y="4832572"/>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rgbClr val="FFFFFF"/>
                </a:solidFill>
                <a:latin typeface="Rajdhani"/>
                <a:ea typeface="Rajdhani"/>
                <a:cs typeface="Rajdhani"/>
                <a:sym typeface="Rajdhani"/>
              </a:rPr>
              <a:t>2</a:t>
            </a:r>
            <a:endParaRPr sz="3100">
              <a:solidFill>
                <a:srgbClr val="FFFFFF"/>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Active Teachers</a:t>
            </a:r>
            <a:endParaRPr b="1" sz="2400">
              <a:solidFill>
                <a:schemeClr val="dk1"/>
              </a:solidFill>
              <a:latin typeface="Lato"/>
              <a:ea typeface="Lato"/>
              <a:cs typeface="Lato"/>
              <a:sym typeface="Lato"/>
            </a:endParaRPr>
          </a:p>
        </p:txBody>
      </p:sp>
      <p:sp>
        <p:nvSpPr>
          <p:cNvPr id="254" name="Google Shape;254;p19"/>
          <p:cNvSpPr txBox="1"/>
          <p:nvPr/>
        </p:nvSpPr>
        <p:spPr>
          <a:xfrm>
            <a:off x="7622950" y="2199940"/>
            <a:ext cx="9640800" cy="130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500"/>
              </a:spcBef>
              <a:spcAft>
                <a:spcPts val="3500"/>
              </a:spcAft>
              <a:buNone/>
            </a:pPr>
            <a:r>
              <a:rPr lang="en-US" sz="2200">
                <a:latin typeface="Lexend"/>
                <a:ea typeface="Lexend"/>
                <a:cs typeface="Lexend"/>
                <a:sym typeface="Lexend"/>
              </a:rPr>
              <a:t>This year's implementation was strengthened by teachers who regularly partnered with the ACE program to deliver coding experiences.</a:t>
            </a:r>
            <a:endParaRPr sz="2200">
              <a:solidFill>
                <a:srgbClr val="000000"/>
              </a:solidFill>
              <a:latin typeface="Lexend"/>
              <a:ea typeface="Lexend"/>
              <a:cs typeface="Lexend"/>
              <a:sym typeface="Lexend"/>
            </a:endParaRPr>
          </a:p>
        </p:txBody>
      </p:sp>
      <p:sp>
        <p:nvSpPr>
          <p:cNvPr id="255" name="Google Shape;255;p19"/>
          <p:cNvSpPr txBox="1"/>
          <p:nvPr/>
        </p:nvSpPr>
        <p:spPr>
          <a:xfrm>
            <a:off x="10001975" y="4090140"/>
            <a:ext cx="6818400" cy="55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Jessa Abejaron (72)</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Felda Alpuerto (64)</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Theresa Cantillas Peñafor (57)</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John Michael G. Maro (20)</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Kristelle Gem Salazar (12)</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Anne Erica Trinidad (11)</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Kristine Jay B. Ursal (8)</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Arvina Opura (7)</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Maria Angelika Niña A. Mendoza (7)</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Lauren Fhel A. Quinio (5)</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Maria Victoria L. Olid (5)</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Hannah Pearl Mahinay (1)</a:t>
            </a:r>
            <a:endParaRPr sz="2000">
              <a:solidFill>
                <a:srgbClr val="1155CC"/>
              </a:solidFill>
              <a:latin typeface="Lexend"/>
              <a:ea typeface="Lexend"/>
              <a:cs typeface="Lexend"/>
              <a:sym typeface="Lexend"/>
            </a:endParaRPr>
          </a:p>
        </p:txBody>
      </p:sp>
      <p:sp>
        <p:nvSpPr>
          <p:cNvPr id="256" name="Google Shape;256;p19"/>
          <p:cNvSpPr/>
          <p:nvPr/>
        </p:nvSpPr>
        <p:spPr>
          <a:xfrm>
            <a:off x="7588750" y="4090140"/>
            <a:ext cx="1951200" cy="42378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7" name="Google Shape;257;p19"/>
          <p:cNvSpPr txBox="1"/>
          <p:nvPr/>
        </p:nvSpPr>
        <p:spPr>
          <a:xfrm>
            <a:off x="7622949" y="5212440"/>
            <a:ext cx="18828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rgbClr val="1155CC"/>
                </a:solidFill>
                <a:latin typeface="Rajdhani"/>
                <a:ea typeface="Rajdhani"/>
                <a:cs typeface="Rajdhani"/>
                <a:sym typeface="Rajdhani"/>
              </a:rPr>
              <a:t>12</a:t>
            </a:r>
            <a:endParaRPr sz="3100">
              <a:solidFill>
                <a:srgbClr val="1155CC"/>
              </a:solidFill>
              <a:latin typeface="Lato"/>
              <a:ea typeface="Lato"/>
              <a:cs typeface="Lato"/>
              <a:sym typeface="Lato"/>
            </a:endParaRPr>
          </a:p>
        </p:txBody>
      </p:sp>
      <p:sp>
        <p:nvSpPr>
          <p:cNvPr id="258" name="Google Shape;258;p19"/>
          <p:cNvSpPr txBox="1"/>
          <p:nvPr/>
        </p:nvSpPr>
        <p:spPr>
          <a:xfrm>
            <a:off x="7622950" y="4307700"/>
            <a:ext cx="1882800" cy="51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rgbClr val="1155CC"/>
                </a:solidFill>
                <a:latin typeface="Lato"/>
                <a:ea typeface="Lato"/>
                <a:cs typeface="Lato"/>
                <a:sym typeface="Lato"/>
              </a:rPr>
              <a:t>COUNT</a:t>
            </a:r>
            <a:endParaRPr sz="2000">
              <a:solidFill>
                <a:srgbClr val="1155CC"/>
              </a:solidFill>
              <a:latin typeface="Lato"/>
              <a:ea typeface="Lato"/>
              <a:cs typeface="Lato"/>
              <a:sym typeface="Lato"/>
            </a:endParaRPr>
          </a:p>
        </p:txBody>
      </p:sp>
      <p:sp>
        <p:nvSpPr>
          <p:cNvPr id="259" name="Google Shape;259;p19"/>
          <p:cNvSpPr/>
          <p:nvPr/>
        </p:nvSpPr>
        <p:spPr>
          <a:xfrm>
            <a:off x="712036" y="3037901"/>
            <a:ext cx="6186006" cy="5005039"/>
          </a:xfrm>
          <a:custGeom>
            <a:rect b="b" l="l" r="r" t="t"/>
            <a:pathLst>
              <a:path extrusionOk="0" h="1295803" w="1601555">
                <a:moveTo>
                  <a:pt x="0" y="0"/>
                </a:moveTo>
                <a:lnTo>
                  <a:pt x="1601554" y="0"/>
                </a:lnTo>
                <a:lnTo>
                  <a:pt x="1601554" y="1295803"/>
                </a:lnTo>
                <a:lnTo>
                  <a:pt x="0" y="129580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ACE Facilitator/s</a:t>
            </a:r>
            <a:endParaRPr b="1" sz="2400">
              <a:solidFill>
                <a:schemeClr val="dk1"/>
              </a:solidFill>
              <a:latin typeface="Lato"/>
              <a:ea typeface="Lato"/>
              <a:cs typeface="Lato"/>
              <a:sym typeface="Lato"/>
            </a:endParaRPr>
          </a:p>
        </p:txBody>
      </p:sp>
      <p:sp>
        <p:nvSpPr>
          <p:cNvPr id="265" name="Google Shape;265;p20"/>
          <p:cNvSpPr/>
          <p:nvPr/>
        </p:nvSpPr>
        <p:spPr>
          <a:xfrm>
            <a:off x="11607724" y="2345300"/>
            <a:ext cx="5685856" cy="5758973"/>
          </a:xfrm>
          <a:custGeom>
            <a:rect b="b" l="l" r="r" t="t"/>
            <a:pathLst>
              <a:path extrusionOk="0" h="1150644" w="1119263">
                <a:moveTo>
                  <a:pt x="0" y="0"/>
                </a:moveTo>
                <a:lnTo>
                  <a:pt x="1119262" y="0"/>
                </a:lnTo>
                <a:lnTo>
                  <a:pt x="1119262" y="1150644"/>
                </a:lnTo>
                <a:lnTo>
                  <a:pt x="0" y="1150644"/>
                </a:lnTo>
                <a:lnTo>
                  <a:pt x="0" y="0"/>
                </a:lnTo>
                <a:close/>
              </a:path>
            </a:pathLst>
          </a:custGeom>
          <a:blipFill rotWithShape="1">
            <a:blip r:embed="rId3">
              <a:alphaModFix/>
            </a:blip>
            <a:stretch>
              <a:fillRect b="0" l="0" r="0" t="0"/>
            </a:stretch>
          </a:blipFill>
          <a:ln>
            <a:noFill/>
          </a:ln>
        </p:spPr>
      </p:sp>
      <p:sp>
        <p:nvSpPr>
          <p:cNvPr id="266" name="Google Shape;266;p20"/>
          <p:cNvSpPr txBox="1"/>
          <p:nvPr/>
        </p:nvSpPr>
        <p:spPr>
          <a:xfrm>
            <a:off x="936400" y="2209465"/>
            <a:ext cx="96408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500"/>
              </a:spcBef>
              <a:spcAft>
                <a:spcPts val="3500"/>
              </a:spcAft>
              <a:buNone/>
            </a:pPr>
            <a:r>
              <a:rPr lang="en-US" sz="2200">
                <a:solidFill>
                  <a:schemeClr val="dk1"/>
                </a:solidFill>
                <a:latin typeface="Lexend"/>
                <a:ea typeface="Lexend"/>
                <a:cs typeface="Lexend"/>
                <a:sym typeface="Lexend"/>
              </a:rPr>
              <a:t>Guiding the program’s implementation is the school’s ACE Facilitator, serving as its dedicated coding instructor.</a:t>
            </a:r>
            <a:endParaRPr sz="2200">
              <a:solidFill>
                <a:schemeClr val="dk1"/>
              </a:solidFill>
              <a:latin typeface="Lexend"/>
              <a:ea typeface="Lexend"/>
              <a:cs typeface="Lexend"/>
              <a:sym typeface="Lexend"/>
            </a:endParaRPr>
          </a:p>
        </p:txBody>
      </p:sp>
      <p:sp>
        <p:nvSpPr>
          <p:cNvPr id="267" name="Google Shape;267;p20"/>
          <p:cNvSpPr/>
          <p:nvPr/>
        </p:nvSpPr>
        <p:spPr>
          <a:xfrm>
            <a:off x="1141000" y="3448670"/>
            <a:ext cx="1951200" cy="19359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8" name="Google Shape;268;p20"/>
          <p:cNvSpPr txBox="1"/>
          <p:nvPr/>
        </p:nvSpPr>
        <p:spPr>
          <a:xfrm>
            <a:off x="1175175" y="3572440"/>
            <a:ext cx="1882800" cy="170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rgbClr val="1155CC"/>
                </a:solidFill>
                <a:latin typeface="Rajdhani"/>
                <a:ea typeface="Rajdhani"/>
                <a:cs typeface="Rajdhani"/>
                <a:sym typeface="Rajdhani"/>
              </a:rPr>
              <a:t>2</a:t>
            </a:r>
            <a:endParaRPr sz="3100">
              <a:solidFill>
                <a:srgbClr val="1155CC"/>
              </a:solidFill>
              <a:latin typeface="Lato"/>
              <a:ea typeface="Lato"/>
              <a:cs typeface="Lato"/>
              <a:sym typeface="Lato"/>
            </a:endParaRPr>
          </a:p>
        </p:txBody>
      </p:sp>
      <p:sp>
        <p:nvSpPr>
          <p:cNvPr id="269" name="Google Shape;269;p20"/>
          <p:cNvSpPr txBox="1"/>
          <p:nvPr/>
        </p:nvSpPr>
        <p:spPr>
          <a:xfrm>
            <a:off x="1175188" y="3531559"/>
            <a:ext cx="1882800" cy="51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rgbClr val="6D9EEB"/>
                </a:solidFill>
                <a:latin typeface="Lato"/>
                <a:ea typeface="Lato"/>
                <a:cs typeface="Lato"/>
                <a:sym typeface="Lato"/>
              </a:rPr>
              <a:t>COUNT</a:t>
            </a:r>
            <a:endParaRPr sz="1600">
              <a:solidFill>
                <a:srgbClr val="6D9EEB"/>
              </a:solidFill>
              <a:latin typeface="Lato"/>
              <a:ea typeface="Lato"/>
              <a:cs typeface="Lato"/>
              <a:sym typeface="Lato"/>
            </a:endParaRPr>
          </a:p>
        </p:txBody>
      </p:sp>
      <p:sp>
        <p:nvSpPr>
          <p:cNvPr id="270" name="Google Shape;270;p20"/>
          <p:cNvSpPr txBox="1"/>
          <p:nvPr/>
        </p:nvSpPr>
        <p:spPr>
          <a:xfrm>
            <a:off x="1175200" y="5939375"/>
            <a:ext cx="94362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The ACE Facilitator extended support across a wide range of learning activities this year —from orientations, onboarding, coding and build-and-code sessions to project creation, revisions, presentations, consultations, and schoolwide events.</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US" sz="2200">
                <a:solidFill>
                  <a:schemeClr val="dk1"/>
                </a:solidFill>
                <a:latin typeface="Lexend"/>
                <a:ea typeface="Lexend"/>
                <a:cs typeface="Lexend"/>
                <a:sym typeface="Lexend"/>
              </a:rPr>
              <a:t>School administrators and teachers are encouraged to continue coordinating closely with the ACE Facilitator to explore additional strategies and opportunities that can further strengthen the school's implementation of the ACE Program next year.</a:t>
            </a:r>
            <a:endParaRPr sz="2200">
              <a:solidFill>
                <a:schemeClr val="dk1"/>
              </a:solidFill>
              <a:latin typeface="Lexend"/>
              <a:ea typeface="Lexend"/>
              <a:cs typeface="Lexend"/>
              <a:sym typeface="Lexend"/>
            </a:endParaRPr>
          </a:p>
        </p:txBody>
      </p:sp>
      <p:sp>
        <p:nvSpPr>
          <p:cNvPr id="271" name="Google Shape;271;p20"/>
          <p:cNvSpPr txBox="1"/>
          <p:nvPr/>
        </p:nvSpPr>
        <p:spPr>
          <a:xfrm>
            <a:off x="3554213" y="4103140"/>
            <a:ext cx="6818400" cy="117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3000">
                <a:solidFill>
                  <a:srgbClr val="1155CC"/>
                </a:solidFill>
                <a:latin typeface="Lexend"/>
                <a:ea typeface="Lexend"/>
                <a:cs typeface="Lexend"/>
                <a:sym typeface="Lexend"/>
              </a:rPr>
              <a:t>Mr. Francis Justin Cutamora</a:t>
            </a:r>
            <a:endParaRPr sz="3000">
              <a:solidFill>
                <a:srgbClr val="1155CC"/>
              </a:solidFill>
              <a:latin typeface="Lexend"/>
              <a:ea typeface="Lexend"/>
              <a:cs typeface="Lexend"/>
              <a:sym typeface="Lexend"/>
            </a:endParaRPr>
          </a:p>
          <a:p>
            <a:pPr indent="0" lvl="0" marL="0" rtl="0" algn="l">
              <a:lnSpc>
                <a:spcPct val="115000"/>
              </a:lnSpc>
              <a:spcBef>
                <a:spcPts val="0"/>
              </a:spcBef>
              <a:spcAft>
                <a:spcPts val="0"/>
              </a:spcAft>
              <a:buClr>
                <a:srgbClr val="000000"/>
              </a:buClr>
              <a:buSzPts val="1100"/>
              <a:buFont typeface="Arial"/>
              <a:buNone/>
            </a:pPr>
            <a:r>
              <a:rPr lang="en-US" sz="3000">
                <a:solidFill>
                  <a:srgbClr val="1155CC"/>
                </a:solidFill>
                <a:latin typeface="Lexend"/>
                <a:ea typeface="Lexend"/>
                <a:cs typeface="Lexend"/>
                <a:sym typeface="Lexend"/>
              </a:rPr>
              <a:t>Mr. Richard Quirante</a:t>
            </a:r>
            <a:endParaRPr sz="3000">
              <a:solidFill>
                <a:srgbClr val="FF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1"/>
          <p:cNvSpPr txBox="1"/>
          <p:nvPr/>
        </p:nvSpPr>
        <p:spPr>
          <a:xfrm>
            <a:off x="3652500" y="4028726"/>
            <a:ext cx="10983000" cy="4942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600">
                <a:solidFill>
                  <a:srgbClr val="1155CC"/>
                </a:solidFill>
              </a:rPr>
              <a:t>This year, the school's coding program achieved remarkable growth. </a:t>
            </a:r>
            <a:endParaRPr b="1" sz="2600">
              <a:solidFill>
                <a:srgbClr val="1155CC"/>
              </a:solidFill>
            </a:endParaRPr>
          </a:p>
          <a:p>
            <a:pPr indent="0" lvl="0" marL="0" rtl="0" algn="ctr">
              <a:lnSpc>
                <a:spcPct val="115000"/>
              </a:lnSpc>
              <a:spcBef>
                <a:spcPts val="0"/>
              </a:spcBef>
              <a:spcAft>
                <a:spcPts val="0"/>
              </a:spcAft>
              <a:buNone/>
            </a:pPr>
            <a:r>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The ACE Facilitator, together with the Phoenix Aralinks team, delivered comprehensive support that strengthened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student learning and teacher capacity.</a:t>
            </a:r>
            <a:endParaRPr b="1" sz="2600">
              <a:solidFill>
                <a:srgbClr val="1155CC"/>
              </a:solidFill>
            </a:endParaRPr>
          </a:p>
          <a:p>
            <a:pPr indent="0" lvl="0" marL="0" rtl="0" algn="ctr">
              <a:lnSpc>
                <a:spcPct val="115000"/>
              </a:lnSpc>
              <a:spcBef>
                <a:spcPts val="0"/>
              </a:spcBef>
              <a:spcAft>
                <a:spcPts val="0"/>
              </a:spcAft>
              <a:buNone/>
            </a:pPr>
            <a:r>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With continued partnership and commitment,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even greater success awaits.</a:t>
            </a:r>
            <a:endParaRPr b="1" sz="2600">
              <a:solidFill>
                <a:srgbClr val="1155CC"/>
              </a:solidFill>
            </a:endParaRPr>
          </a:p>
          <a:p>
            <a:pPr indent="0" lvl="0" marL="0" rtl="0" algn="l">
              <a:lnSpc>
                <a:spcPct val="115000"/>
              </a:lnSpc>
              <a:spcBef>
                <a:spcPts val="0"/>
              </a:spcBef>
              <a:spcAft>
                <a:spcPts val="0"/>
              </a:spcAft>
              <a:buNone/>
            </a:pPr>
            <a:r>
              <a:t/>
            </a:r>
            <a:endParaRPr b="1" sz="2600">
              <a:solidFill>
                <a:schemeClr val="dk1"/>
              </a:solidFill>
            </a:endParaRPr>
          </a:p>
          <a:p>
            <a:pPr indent="0" lvl="0" marL="0" rtl="0" algn="ctr">
              <a:lnSpc>
                <a:spcPct val="115000"/>
              </a:lnSpc>
              <a:spcBef>
                <a:spcPts val="0"/>
              </a:spcBef>
              <a:spcAft>
                <a:spcPts val="0"/>
              </a:spcAft>
              <a:buNone/>
            </a:pPr>
            <a:r>
              <a:rPr b="1" lang="en-US" sz="4000">
                <a:solidFill>
                  <a:srgbClr val="ED7D31"/>
                </a:solidFill>
              </a:rPr>
              <a:t>#ACEPossible!</a:t>
            </a:r>
            <a:endParaRPr b="1" sz="4000">
              <a:solidFill>
                <a:srgbClr val="ED7D31"/>
              </a:solidFill>
            </a:endParaRPr>
          </a:p>
        </p:txBody>
      </p:sp>
      <p:pic>
        <p:nvPicPr>
          <p:cNvPr id="277" name="Google Shape;277;p21" title="Aralinks Logo.png"/>
          <p:cNvPicPr preferRelativeResize="0"/>
          <p:nvPr/>
        </p:nvPicPr>
        <p:blipFill>
          <a:blip r:embed="rId3">
            <a:alphaModFix/>
          </a:blip>
          <a:stretch>
            <a:fillRect/>
          </a:stretch>
        </p:blipFill>
        <p:spPr>
          <a:xfrm>
            <a:off x="8049912" y="1458750"/>
            <a:ext cx="2188176" cy="202474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txBox="1"/>
          <p:nvPr/>
        </p:nvSpPr>
        <p:spPr>
          <a:xfrm>
            <a:off x="3652488" y="4844480"/>
            <a:ext cx="10983000" cy="339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400">
                <a:solidFill>
                  <a:schemeClr val="dk1"/>
                </a:solidFill>
                <a:latin typeface="Lexend"/>
                <a:ea typeface="Lexend"/>
                <a:cs typeface="Lexend"/>
                <a:sym typeface="Lexend"/>
              </a:rPr>
              <a:t>Contact Information for Further Support</a:t>
            </a:r>
            <a:endParaRPr b="1" sz="24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t/>
            </a:r>
            <a:endParaRPr b="1" sz="19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For any inquiries or assistance related to the Aralinks Coding Education (ACE) program, feel free to reach out to our dedicated support team:</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Aralinks Supervisor: Emmanuel Timtim</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Email:  etimtim.did@gmail.com</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Aralinks EdTech: Mark Joseph del Rosario</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Email: mjdelrosario.did@gmail.com</a:t>
            </a:r>
            <a:endParaRPr b="1" sz="1800">
              <a:solidFill>
                <a:srgbClr val="1155CC"/>
              </a:solidFill>
              <a:latin typeface="Lexend"/>
              <a:ea typeface="Lexend"/>
              <a:cs typeface="Lexend"/>
              <a:sym typeface="Lexend"/>
            </a:endParaRPr>
          </a:p>
        </p:txBody>
      </p:sp>
      <p:pic>
        <p:nvPicPr>
          <p:cNvPr id="283" name="Google Shape;283;p22" title="Aralinks Logo.png"/>
          <p:cNvPicPr preferRelativeResize="0"/>
          <p:nvPr/>
        </p:nvPicPr>
        <p:blipFill>
          <a:blip r:embed="rId3">
            <a:alphaModFix/>
          </a:blip>
          <a:stretch>
            <a:fillRect/>
          </a:stretch>
        </p:blipFill>
        <p:spPr>
          <a:xfrm>
            <a:off x="8049900" y="1573300"/>
            <a:ext cx="2188176" cy="2024748"/>
          </a:xfrm>
          <a:prstGeom prst="rect">
            <a:avLst/>
          </a:prstGeom>
          <a:noFill/>
          <a:ln>
            <a:noFill/>
          </a:ln>
        </p:spPr>
      </p:pic>
      <p:sp>
        <p:nvSpPr>
          <p:cNvPr id="284" name="Google Shape;284;p22"/>
          <p:cNvSpPr/>
          <p:nvPr/>
        </p:nvSpPr>
        <p:spPr>
          <a:xfrm>
            <a:off x="200225" y="146350"/>
            <a:ext cx="7064700" cy="10185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3C78D8"/>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